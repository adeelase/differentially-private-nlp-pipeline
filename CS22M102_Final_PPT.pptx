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diagrams/layout1.xml" ContentType="application/vnd.openxmlformats-officedocument.drawingml.diagram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diagrams/data1.xml" ContentType="application/vnd.openxmlformats-officedocument.drawingml.diagramData+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83" r:id="rId7"/>
    <p:sldId id="261" r:id="rId8"/>
    <p:sldId id="263" r:id="rId9"/>
    <p:sldId id="281" r:id="rId10"/>
    <p:sldId id="282" r:id="rId11"/>
    <p:sldId id="284" r:id="rId12"/>
    <p:sldId id="285" r:id="rId13"/>
    <p:sldId id="286" r:id="rId14"/>
    <p:sldId id="288" r:id="rId15"/>
    <p:sldId id="287" r:id="rId16"/>
    <p:sldId id="289" r:id="rId17"/>
    <p:sldId id="267" r:id="rId18"/>
    <p:sldId id="291" r:id="rId19"/>
    <p:sldId id="292"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embeddedFontLst>
    <p:embeddedFont>
      <p:font typeface="Candara" pitchFamily="34" charset="0"/>
      <p:regular r:id="rId34"/>
      <p:bold r:id="rId35"/>
      <p:italic r:id="rId36"/>
      <p:boldItalic r:id="rId37"/>
    </p:embeddedFont>
    <p:embeddedFont>
      <p:font typeface="Calibri"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0CC7C1A9-6590-4DB6-B516-8E1C2172B04F}">
  <a:tblStyle styleId="{0CC7C1A9-6590-4DB6-B516-8E1C2172B04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666" y="-90"/>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D9E38D-60A9-43D9-B50A-FC313B5D68C0}"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FF803E41-6BC3-4B9F-8CD5-B79691831DDC}">
      <dgm:prSet/>
      <dgm:spPr/>
      <dgm:t>
        <a:bodyPr/>
        <a:lstStyle/>
        <a:p>
          <a:pPr rtl="0"/>
          <a:r>
            <a:rPr lang="en-US" b="0" i="0" dirty="0" smtClean="0"/>
            <a:t>1</a:t>
          </a:r>
          <a:endParaRPr lang="en-US" b="0" i="0" dirty="0"/>
        </a:p>
      </dgm:t>
    </dgm:pt>
    <dgm:pt modelId="{A538A399-9A0A-4275-A75C-A28E3D338045}" type="parTrans" cxnId="{48009F85-BB6F-4B09-9569-8245197CCE90}">
      <dgm:prSet/>
      <dgm:spPr/>
      <dgm:t>
        <a:bodyPr/>
        <a:lstStyle/>
        <a:p>
          <a:endParaRPr lang="en-US"/>
        </a:p>
      </dgm:t>
    </dgm:pt>
    <dgm:pt modelId="{54BCA89D-1E83-4E86-8A26-D7B9EC1AC930}" type="sibTrans" cxnId="{48009F85-BB6F-4B09-9569-8245197CCE90}">
      <dgm:prSet/>
      <dgm:spPr/>
      <dgm:t>
        <a:bodyPr/>
        <a:lstStyle/>
        <a:p>
          <a:endParaRPr lang="en-US"/>
        </a:p>
      </dgm:t>
    </dgm:pt>
    <dgm:pt modelId="{40E0423B-48C3-4BD8-909A-2D217D241552}">
      <dgm:prSet/>
      <dgm:spPr/>
      <dgm:t>
        <a:bodyPr/>
        <a:lstStyle/>
        <a:p>
          <a:pPr rtl="0"/>
          <a:r>
            <a:rPr lang="en-US" b="0" i="0" dirty="0" smtClean="0"/>
            <a:t>2</a:t>
          </a:r>
          <a:endParaRPr lang="en-US" b="0" i="0" dirty="0"/>
        </a:p>
      </dgm:t>
    </dgm:pt>
    <dgm:pt modelId="{5E56A39C-C2D4-47BD-8C26-C6DFBF41EF24}" type="parTrans" cxnId="{88CB5D93-37CF-4CF4-83E0-C74748CCE1CF}">
      <dgm:prSet/>
      <dgm:spPr/>
      <dgm:t>
        <a:bodyPr/>
        <a:lstStyle/>
        <a:p>
          <a:endParaRPr lang="en-US"/>
        </a:p>
      </dgm:t>
    </dgm:pt>
    <dgm:pt modelId="{372F77AA-9B1E-4E75-BDA5-D06BA39B7928}" type="sibTrans" cxnId="{88CB5D93-37CF-4CF4-83E0-C74748CCE1CF}">
      <dgm:prSet/>
      <dgm:spPr/>
      <dgm:t>
        <a:bodyPr/>
        <a:lstStyle/>
        <a:p>
          <a:endParaRPr lang="en-US"/>
        </a:p>
      </dgm:t>
    </dgm:pt>
    <dgm:pt modelId="{5E43018E-C0D3-4ECA-BD84-21CE4952EB08}">
      <dgm:prSet/>
      <dgm:spPr/>
      <dgm:t>
        <a:bodyPr/>
        <a:lstStyle/>
        <a:p>
          <a:pPr rtl="0"/>
          <a:r>
            <a:rPr lang="en-US" b="0" i="0" dirty="0" smtClean="0"/>
            <a:t>3</a:t>
          </a:r>
          <a:endParaRPr lang="en-US" b="0" i="0" dirty="0"/>
        </a:p>
      </dgm:t>
    </dgm:pt>
    <dgm:pt modelId="{0E7C94B9-DDDC-47E0-90E9-D80FF625C791}" type="parTrans" cxnId="{39CAD136-BDB0-4B9E-82B4-C591CCB66334}">
      <dgm:prSet/>
      <dgm:spPr/>
      <dgm:t>
        <a:bodyPr/>
        <a:lstStyle/>
        <a:p>
          <a:endParaRPr lang="en-US"/>
        </a:p>
      </dgm:t>
    </dgm:pt>
    <dgm:pt modelId="{92C16781-CC09-4024-89CA-5C808C4CF088}" type="sibTrans" cxnId="{39CAD136-BDB0-4B9E-82B4-C591CCB66334}">
      <dgm:prSet/>
      <dgm:spPr/>
      <dgm:t>
        <a:bodyPr/>
        <a:lstStyle/>
        <a:p>
          <a:endParaRPr lang="en-US"/>
        </a:p>
      </dgm:t>
    </dgm:pt>
    <dgm:pt modelId="{951530C7-B7AF-45DC-8462-EFA1F40942D6}">
      <dgm:prSet/>
      <dgm:spPr/>
      <dgm:t>
        <a:bodyPr/>
        <a:lstStyle/>
        <a:p>
          <a:r>
            <a:rPr lang="en-US" b="0" i="0" dirty="0" smtClean="0"/>
            <a:t>Advancements in Computer Technology has enabled the vast digital collection and storage of data</a:t>
          </a:r>
          <a:endParaRPr lang="en-US" dirty="0"/>
        </a:p>
      </dgm:t>
    </dgm:pt>
    <dgm:pt modelId="{903216F7-9344-4EA2-B94F-A4CF8DA767AB}" type="parTrans" cxnId="{9299432E-921F-483C-ABF5-93CFDF2628F3}">
      <dgm:prSet/>
      <dgm:spPr/>
      <dgm:t>
        <a:bodyPr/>
        <a:lstStyle/>
        <a:p>
          <a:endParaRPr lang="en-US"/>
        </a:p>
      </dgm:t>
    </dgm:pt>
    <dgm:pt modelId="{1F924251-5E97-4A4F-BE7D-A19A56344280}" type="sibTrans" cxnId="{9299432E-921F-483C-ABF5-93CFDF2628F3}">
      <dgm:prSet/>
      <dgm:spPr/>
      <dgm:t>
        <a:bodyPr/>
        <a:lstStyle/>
        <a:p>
          <a:endParaRPr lang="en-US"/>
        </a:p>
      </dgm:t>
    </dgm:pt>
    <dgm:pt modelId="{DD096839-A7BE-42F8-984B-B2BCA52AE969}">
      <dgm:prSet/>
      <dgm:spPr/>
      <dgm:t>
        <a:bodyPr/>
        <a:lstStyle/>
        <a:p>
          <a:r>
            <a:rPr lang="en-US" b="0" i="0" smtClean="0"/>
            <a:t>This leads to a growing capacity for personal data collection</a:t>
          </a:r>
          <a:endParaRPr lang="en-US"/>
        </a:p>
      </dgm:t>
    </dgm:pt>
    <dgm:pt modelId="{74E16C32-7A56-4052-AE83-02CB2D312FCF}" type="parTrans" cxnId="{43969AD3-94F3-4A27-9EC6-30258365EB2D}">
      <dgm:prSet/>
      <dgm:spPr/>
      <dgm:t>
        <a:bodyPr/>
        <a:lstStyle/>
        <a:p>
          <a:endParaRPr lang="en-US"/>
        </a:p>
      </dgm:t>
    </dgm:pt>
    <dgm:pt modelId="{64039C4F-E007-4B5C-A467-2CA4C5046730}" type="sibTrans" cxnId="{43969AD3-94F3-4A27-9EC6-30258365EB2D}">
      <dgm:prSet/>
      <dgm:spPr/>
      <dgm:t>
        <a:bodyPr/>
        <a:lstStyle/>
        <a:p>
          <a:endParaRPr lang="en-US"/>
        </a:p>
      </dgm:t>
    </dgm:pt>
    <dgm:pt modelId="{12E2D2F9-6DBB-4D60-80B2-765876B5B87E}">
      <dgm:prSet/>
      <dgm:spPr/>
      <dgm:t>
        <a:bodyPr/>
        <a:lstStyle/>
        <a:p>
          <a:r>
            <a:rPr lang="en-US" b="0" i="0" dirty="0" smtClean="0"/>
            <a:t>However, data collection and sharing raise ethical concerns, including privacy, security, and intellectual property rights</a:t>
          </a:r>
          <a:endParaRPr lang="en-US" dirty="0"/>
        </a:p>
      </dgm:t>
    </dgm:pt>
    <dgm:pt modelId="{04839F46-BDA9-4C9E-BB10-1218500B6FD7}" type="parTrans" cxnId="{44E9ADCE-86C6-496D-A861-43CD31B7BF1D}">
      <dgm:prSet/>
      <dgm:spPr/>
      <dgm:t>
        <a:bodyPr/>
        <a:lstStyle/>
        <a:p>
          <a:endParaRPr lang="en-US"/>
        </a:p>
      </dgm:t>
    </dgm:pt>
    <dgm:pt modelId="{D6D5809F-4DCA-45EB-AA5F-0E25383D6054}" type="sibTrans" cxnId="{44E9ADCE-86C6-496D-A861-43CD31B7BF1D}">
      <dgm:prSet/>
      <dgm:spPr/>
      <dgm:t>
        <a:bodyPr/>
        <a:lstStyle/>
        <a:p>
          <a:endParaRPr lang="en-US"/>
        </a:p>
      </dgm:t>
    </dgm:pt>
    <dgm:pt modelId="{A257A65E-19A7-45C1-AFC1-0BA2AEB7A95F}" type="pres">
      <dgm:prSet presAssocID="{3BD9E38D-60A9-43D9-B50A-FC313B5D68C0}" presName="linearFlow" presStyleCnt="0">
        <dgm:presLayoutVars>
          <dgm:dir/>
          <dgm:animLvl val="lvl"/>
          <dgm:resizeHandles val="exact"/>
        </dgm:presLayoutVars>
      </dgm:prSet>
      <dgm:spPr/>
    </dgm:pt>
    <dgm:pt modelId="{71CA322E-AF8A-49CE-ABB8-916D459E6FBB}" type="pres">
      <dgm:prSet presAssocID="{FF803E41-6BC3-4B9F-8CD5-B79691831DDC}" presName="composite" presStyleCnt="0"/>
      <dgm:spPr/>
    </dgm:pt>
    <dgm:pt modelId="{98987B92-DDDB-4A4F-A6B0-EBA6BD73DF24}" type="pres">
      <dgm:prSet presAssocID="{FF803E41-6BC3-4B9F-8CD5-B79691831DDC}" presName="parentText" presStyleLbl="alignNode1" presStyleIdx="0" presStyleCnt="3">
        <dgm:presLayoutVars>
          <dgm:chMax val="1"/>
          <dgm:bulletEnabled val="1"/>
        </dgm:presLayoutVars>
      </dgm:prSet>
      <dgm:spPr/>
      <dgm:t>
        <a:bodyPr/>
        <a:lstStyle/>
        <a:p>
          <a:endParaRPr lang="en-US"/>
        </a:p>
      </dgm:t>
    </dgm:pt>
    <dgm:pt modelId="{E7AAD9A2-1364-4A86-9DBE-6329103360C8}" type="pres">
      <dgm:prSet presAssocID="{FF803E41-6BC3-4B9F-8CD5-B79691831DDC}" presName="descendantText" presStyleLbl="alignAcc1" presStyleIdx="0" presStyleCnt="3">
        <dgm:presLayoutVars>
          <dgm:bulletEnabled val="1"/>
        </dgm:presLayoutVars>
      </dgm:prSet>
      <dgm:spPr/>
    </dgm:pt>
    <dgm:pt modelId="{D9879BB3-CD62-4F99-82BE-1B7F53EECBE2}" type="pres">
      <dgm:prSet presAssocID="{54BCA89D-1E83-4E86-8A26-D7B9EC1AC930}" presName="sp" presStyleCnt="0"/>
      <dgm:spPr/>
    </dgm:pt>
    <dgm:pt modelId="{2ACB3D4B-FD66-476C-88C6-FAA71956180C}" type="pres">
      <dgm:prSet presAssocID="{40E0423B-48C3-4BD8-909A-2D217D241552}" presName="composite" presStyleCnt="0"/>
      <dgm:spPr/>
    </dgm:pt>
    <dgm:pt modelId="{3FAF3FCE-178D-44C6-97D1-6F55390CBAC2}" type="pres">
      <dgm:prSet presAssocID="{40E0423B-48C3-4BD8-909A-2D217D241552}" presName="parentText" presStyleLbl="alignNode1" presStyleIdx="1" presStyleCnt="3">
        <dgm:presLayoutVars>
          <dgm:chMax val="1"/>
          <dgm:bulletEnabled val="1"/>
        </dgm:presLayoutVars>
      </dgm:prSet>
      <dgm:spPr/>
      <dgm:t>
        <a:bodyPr/>
        <a:lstStyle/>
        <a:p>
          <a:endParaRPr lang="en-US"/>
        </a:p>
      </dgm:t>
    </dgm:pt>
    <dgm:pt modelId="{D9D8024A-5920-4236-92E8-453942FC3483}" type="pres">
      <dgm:prSet presAssocID="{40E0423B-48C3-4BD8-909A-2D217D241552}" presName="descendantText" presStyleLbl="alignAcc1" presStyleIdx="1" presStyleCnt="3">
        <dgm:presLayoutVars>
          <dgm:bulletEnabled val="1"/>
        </dgm:presLayoutVars>
      </dgm:prSet>
      <dgm:spPr/>
    </dgm:pt>
    <dgm:pt modelId="{425A1248-8D3D-4F4B-A138-2A35AED7C4FC}" type="pres">
      <dgm:prSet presAssocID="{372F77AA-9B1E-4E75-BDA5-D06BA39B7928}" presName="sp" presStyleCnt="0"/>
      <dgm:spPr/>
    </dgm:pt>
    <dgm:pt modelId="{E4B37C4D-82E7-4400-92D9-D887739A3C52}" type="pres">
      <dgm:prSet presAssocID="{5E43018E-C0D3-4ECA-BD84-21CE4952EB08}" presName="composite" presStyleCnt="0"/>
      <dgm:spPr/>
    </dgm:pt>
    <dgm:pt modelId="{8C7D3186-2A9F-4ED9-8C72-0F1D5A4A1C80}" type="pres">
      <dgm:prSet presAssocID="{5E43018E-C0D3-4ECA-BD84-21CE4952EB08}" presName="parentText" presStyleLbl="alignNode1" presStyleIdx="2" presStyleCnt="3">
        <dgm:presLayoutVars>
          <dgm:chMax val="1"/>
          <dgm:bulletEnabled val="1"/>
        </dgm:presLayoutVars>
      </dgm:prSet>
      <dgm:spPr/>
      <dgm:t>
        <a:bodyPr/>
        <a:lstStyle/>
        <a:p>
          <a:endParaRPr lang="en-US"/>
        </a:p>
      </dgm:t>
    </dgm:pt>
    <dgm:pt modelId="{1C6C0C34-A649-4328-A99C-E3A5CBD061FB}" type="pres">
      <dgm:prSet presAssocID="{5E43018E-C0D3-4ECA-BD84-21CE4952EB08}" presName="descendantText" presStyleLbl="alignAcc1" presStyleIdx="2" presStyleCnt="3">
        <dgm:presLayoutVars>
          <dgm:bulletEnabled val="1"/>
        </dgm:presLayoutVars>
      </dgm:prSet>
      <dgm:spPr/>
      <dgm:t>
        <a:bodyPr/>
        <a:lstStyle/>
        <a:p>
          <a:endParaRPr lang="en-US"/>
        </a:p>
      </dgm:t>
    </dgm:pt>
  </dgm:ptLst>
  <dgm:cxnLst>
    <dgm:cxn modelId="{44E9ADCE-86C6-496D-A861-43CD31B7BF1D}" srcId="{5E43018E-C0D3-4ECA-BD84-21CE4952EB08}" destId="{12E2D2F9-6DBB-4D60-80B2-765876B5B87E}" srcOrd="0" destOrd="0" parTransId="{04839F46-BDA9-4C9E-BB10-1218500B6FD7}" sibTransId="{D6D5809F-4DCA-45EB-AA5F-0E25383D6054}"/>
    <dgm:cxn modelId="{3C2BC08A-5865-48C0-8999-303A3E1F71D0}" type="presOf" srcId="{5E43018E-C0D3-4ECA-BD84-21CE4952EB08}" destId="{8C7D3186-2A9F-4ED9-8C72-0F1D5A4A1C80}" srcOrd="0" destOrd="0" presId="urn:microsoft.com/office/officeart/2005/8/layout/chevron2"/>
    <dgm:cxn modelId="{43969AD3-94F3-4A27-9EC6-30258365EB2D}" srcId="{40E0423B-48C3-4BD8-909A-2D217D241552}" destId="{DD096839-A7BE-42F8-984B-B2BCA52AE969}" srcOrd="0" destOrd="0" parTransId="{74E16C32-7A56-4052-AE83-02CB2D312FCF}" sibTransId="{64039C4F-E007-4B5C-A467-2CA4C5046730}"/>
    <dgm:cxn modelId="{39CAD136-BDB0-4B9E-82B4-C591CCB66334}" srcId="{3BD9E38D-60A9-43D9-B50A-FC313B5D68C0}" destId="{5E43018E-C0D3-4ECA-BD84-21CE4952EB08}" srcOrd="2" destOrd="0" parTransId="{0E7C94B9-DDDC-47E0-90E9-D80FF625C791}" sibTransId="{92C16781-CC09-4024-89CA-5C808C4CF088}"/>
    <dgm:cxn modelId="{1C234036-CBB0-469D-9B54-A9D027A649F1}" type="presOf" srcId="{12E2D2F9-6DBB-4D60-80B2-765876B5B87E}" destId="{1C6C0C34-A649-4328-A99C-E3A5CBD061FB}" srcOrd="0" destOrd="0" presId="urn:microsoft.com/office/officeart/2005/8/layout/chevron2"/>
    <dgm:cxn modelId="{2F65C6B4-CB4D-4A93-B962-15234405C598}" type="presOf" srcId="{DD096839-A7BE-42F8-984B-B2BCA52AE969}" destId="{D9D8024A-5920-4236-92E8-453942FC3483}" srcOrd="0" destOrd="0" presId="urn:microsoft.com/office/officeart/2005/8/layout/chevron2"/>
    <dgm:cxn modelId="{0C310DB6-6BD4-476E-B2DC-02BE4BF8238D}" type="presOf" srcId="{40E0423B-48C3-4BD8-909A-2D217D241552}" destId="{3FAF3FCE-178D-44C6-97D1-6F55390CBAC2}" srcOrd="0" destOrd="0" presId="urn:microsoft.com/office/officeart/2005/8/layout/chevron2"/>
    <dgm:cxn modelId="{9299432E-921F-483C-ABF5-93CFDF2628F3}" srcId="{FF803E41-6BC3-4B9F-8CD5-B79691831DDC}" destId="{951530C7-B7AF-45DC-8462-EFA1F40942D6}" srcOrd="0" destOrd="0" parTransId="{903216F7-9344-4EA2-B94F-A4CF8DA767AB}" sibTransId="{1F924251-5E97-4A4F-BE7D-A19A56344280}"/>
    <dgm:cxn modelId="{48009F85-BB6F-4B09-9569-8245197CCE90}" srcId="{3BD9E38D-60A9-43D9-B50A-FC313B5D68C0}" destId="{FF803E41-6BC3-4B9F-8CD5-B79691831DDC}" srcOrd="0" destOrd="0" parTransId="{A538A399-9A0A-4275-A75C-A28E3D338045}" sibTransId="{54BCA89D-1E83-4E86-8A26-D7B9EC1AC930}"/>
    <dgm:cxn modelId="{05BB49A7-E4A3-4EDE-B151-CC1BF85E6913}" type="presOf" srcId="{3BD9E38D-60A9-43D9-B50A-FC313B5D68C0}" destId="{A257A65E-19A7-45C1-AFC1-0BA2AEB7A95F}" srcOrd="0" destOrd="0" presId="urn:microsoft.com/office/officeart/2005/8/layout/chevron2"/>
    <dgm:cxn modelId="{88CB5D93-37CF-4CF4-83E0-C74748CCE1CF}" srcId="{3BD9E38D-60A9-43D9-B50A-FC313B5D68C0}" destId="{40E0423B-48C3-4BD8-909A-2D217D241552}" srcOrd="1" destOrd="0" parTransId="{5E56A39C-C2D4-47BD-8C26-C6DFBF41EF24}" sibTransId="{372F77AA-9B1E-4E75-BDA5-D06BA39B7928}"/>
    <dgm:cxn modelId="{7E2ECF39-F497-4CD9-A781-DD3D7E22019D}" type="presOf" srcId="{FF803E41-6BC3-4B9F-8CD5-B79691831DDC}" destId="{98987B92-DDDB-4A4F-A6B0-EBA6BD73DF24}" srcOrd="0" destOrd="0" presId="urn:microsoft.com/office/officeart/2005/8/layout/chevron2"/>
    <dgm:cxn modelId="{90502A53-A008-49E1-A6A4-E0BCC21F948E}" type="presOf" srcId="{951530C7-B7AF-45DC-8462-EFA1F40942D6}" destId="{E7AAD9A2-1364-4A86-9DBE-6329103360C8}" srcOrd="0" destOrd="0" presId="urn:microsoft.com/office/officeart/2005/8/layout/chevron2"/>
    <dgm:cxn modelId="{50AE9D31-9383-4EE1-BE88-2E3C317B9477}" type="presParOf" srcId="{A257A65E-19A7-45C1-AFC1-0BA2AEB7A95F}" destId="{71CA322E-AF8A-49CE-ABB8-916D459E6FBB}" srcOrd="0" destOrd="0" presId="urn:microsoft.com/office/officeart/2005/8/layout/chevron2"/>
    <dgm:cxn modelId="{D7744846-6A20-4779-8383-4B3F91602181}" type="presParOf" srcId="{71CA322E-AF8A-49CE-ABB8-916D459E6FBB}" destId="{98987B92-DDDB-4A4F-A6B0-EBA6BD73DF24}" srcOrd="0" destOrd="0" presId="urn:microsoft.com/office/officeart/2005/8/layout/chevron2"/>
    <dgm:cxn modelId="{9CA34858-61AF-40C3-BB10-474300406C8E}" type="presParOf" srcId="{71CA322E-AF8A-49CE-ABB8-916D459E6FBB}" destId="{E7AAD9A2-1364-4A86-9DBE-6329103360C8}" srcOrd="1" destOrd="0" presId="urn:microsoft.com/office/officeart/2005/8/layout/chevron2"/>
    <dgm:cxn modelId="{D08892C8-F4FE-4590-B45D-D7AFE29EAFEC}" type="presParOf" srcId="{A257A65E-19A7-45C1-AFC1-0BA2AEB7A95F}" destId="{D9879BB3-CD62-4F99-82BE-1B7F53EECBE2}" srcOrd="1" destOrd="0" presId="urn:microsoft.com/office/officeart/2005/8/layout/chevron2"/>
    <dgm:cxn modelId="{87028C4B-2BBA-46E7-966A-45FD465AC123}" type="presParOf" srcId="{A257A65E-19A7-45C1-AFC1-0BA2AEB7A95F}" destId="{2ACB3D4B-FD66-476C-88C6-FAA71956180C}" srcOrd="2" destOrd="0" presId="urn:microsoft.com/office/officeart/2005/8/layout/chevron2"/>
    <dgm:cxn modelId="{C89ACBD7-4CF1-4232-8589-1DEF22655173}" type="presParOf" srcId="{2ACB3D4B-FD66-476C-88C6-FAA71956180C}" destId="{3FAF3FCE-178D-44C6-97D1-6F55390CBAC2}" srcOrd="0" destOrd="0" presId="urn:microsoft.com/office/officeart/2005/8/layout/chevron2"/>
    <dgm:cxn modelId="{098F1E5C-BBCF-4F5E-B114-B87D60540273}" type="presParOf" srcId="{2ACB3D4B-FD66-476C-88C6-FAA71956180C}" destId="{D9D8024A-5920-4236-92E8-453942FC3483}" srcOrd="1" destOrd="0" presId="urn:microsoft.com/office/officeart/2005/8/layout/chevron2"/>
    <dgm:cxn modelId="{3A1F2C89-ECBC-4363-B829-8EB57ADDC481}" type="presParOf" srcId="{A257A65E-19A7-45C1-AFC1-0BA2AEB7A95F}" destId="{425A1248-8D3D-4F4B-A138-2A35AED7C4FC}" srcOrd="3" destOrd="0" presId="urn:microsoft.com/office/officeart/2005/8/layout/chevron2"/>
    <dgm:cxn modelId="{997E6E64-8954-4616-945A-879DFD10A98D}" type="presParOf" srcId="{A257A65E-19A7-45C1-AFC1-0BA2AEB7A95F}" destId="{E4B37C4D-82E7-4400-92D9-D887739A3C52}" srcOrd="4" destOrd="0" presId="urn:microsoft.com/office/officeart/2005/8/layout/chevron2"/>
    <dgm:cxn modelId="{170D21C3-719F-418C-9708-8672C09101D4}" type="presParOf" srcId="{E4B37C4D-82E7-4400-92D9-D887739A3C52}" destId="{8C7D3186-2A9F-4ED9-8C72-0F1D5A4A1C80}" srcOrd="0" destOrd="0" presId="urn:microsoft.com/office/officeart/2005/8/layout/chevron2"/>
    <dgm:cxn modelId="{36065C02-4326-4B60-BCF2-8D0BF7967007}" type="presParOf" srcId="{E4B37C4D-82E7-4400-92D9-D887739A3C52}" destId="{1C6C0C34-A649-4328-A99C-E3A5CBD061FB}" srcOrd="1" destOrd="0" presId="urn:microsoft.com/office/officeart/2005/8/layout/chevron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8987B92-DDDB-4A4F-A6B0-EBA6BD73DF24}">
      <dsp:nvSpPr>
        <dsp:cNvPr id="0" name=""/>
        <dsp:cNvSpPr/>
      </dsp:nvSpPr>
      <dsp:spPr>
        <a:xfrm rot="5400000">
          <a:off x="-153077" y="154567"/>
          <a:ext cx="1020518" cy="71436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b="0" i="0" kern="1200" dirty="0" smtClean="0"/>
            <a:t>1</a:t>
          </a:r>
          <a:endParaRPr lang="en-US" sz="2100" b="0" i="0" kern="1200" dirty="0"/>
        </a:p>
      </dsp:txBody>
      <dsp:txXfrm rot="5400000">
        <a:off x="-153077" y="154567"/>
        <a:ext cx="1020518" cy="714362"/>
      </dsp:txXfrm>
    </dsp:sp>
    <dsp:sp modelId="{E7AAD9A2-1364-4A86-9DBE-6329103360C8}">
      <dsp:nvSpPr>
        <dsp:cNvPr id="0" name=""/>
        <dsp:cNvSpPr/>
      </dsp:nvSpPr>
      <dsp:spPr>
        <a:xfrm rot="5400000">
          <a:off x="5283312" y="-4567460"/>
          <a:ext cx="663336" cy="9801237"/>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b="0" i="0" kern="1200" dirty="0" smtClean="0"/>
            <a:t>Advancements in Computer Technology has enabled the vast digital collection and storage of data</a:t>
          </a:r>
          <a:endParaRPr lang="en-US" sz="2100" kern="1200" dirty="0"/>
        </a:p>
      </dsp:txBody>
      <dsp:txXfrm rot="5400000">
        <a:off x="5283312" y="-4567460"/>
        <a:ext cx="663336" cy="9801237"/>
      </dsp:txXfrm>
    </dsp:sp>
    <dsp:sp modelId="{3FAF3FCE-178D-44C6-97D1-6F55390CBAC2}">
      <dsp:nvSpPr>
        <dsp:cNvPr id="0" name=""/>
        <dsp:cNvSpPr/>
      </dsp:nvSpPr>
      <dsp:spPr>
        <a:xfrm rot="5400000">
          <a:off x="-153077" y="968974"/>
          <a:ext cx="1020518" cy="71436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b="0" i="0" kern="1200" dirty="0" smtClean="0"/>
            <a:t>2</a:t>
          </a:r>
          <a:endParaRPr lang="en-US" sz="2100" b="0" i="0" kern="1200" dirty="0"/>
        </a:p>
      </dsp:txBody>
      <dsp:txXfrm rot="5400000">
        <a:off x="-153077" y="968974"/>
        <a:ext cx="1020518" cy="714362"/>
      </dsp:txXfrm>
    </dsp:sp>
    <dsp:sp modelId="{D9D8024A-5920-4236-92E8-453942FC3483}">
      <dsp:nvSpPr>
        <dsp:cNvPr id="0" name=""/>
        <dsp:cNvSpPr/>
      </dsp:nvSpPr>
      <dsp:spPr>
        <a:xfrm rot="5400000">
          <a:off x="5283312" y="-3753053"/>
          <a:ext cx="663336" cy="9801237"/>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b="0" i="0" kern="1200" smtClean="0"/>
            <a:t>This leads to a growing capacity for personal data collection</a:t>
          </a:r>
          <a:endParaRPr lang="en-US" sz="2100" kern="1200"/>
        </a:p>
      </dsp:txBody>
      <dsp:txXfrm rot="5400000">
        <a:off x="5283312" y="-3753053"/>
        <a:ext cx="663336" cy="9801237"/>
      </dsp:txXfrm>
    </dsp:sp>
    <dsp:sp modelId="{8C7D3186-2A9F-4ED9-8C72-0F1D5A4A1C80}">
      <dsp:nvSpPr>
        <dsp:cNvPr id="0" name=""/>
        <dsp:cNvSpPr/>
      </dsp:nvSpPr>
      <dsp:spPr>
        <a:xfrm rot="5400000">
          <a:off x="-153077" y="1783381"/>
          <a:ext cx="1020518" cy="71436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rtl="0">
            <a:lnSpc>
              <a:spcPct val="90000"/>
            </a:lnSpc>
            <a:spcBef>
              <a:spcPct val="0"/>
            </a:spcBef>
            <a:spcAft>
              <a:spcPct val="35000"/>
            </a:spcAft>
          </a:pPr>
          <a:r>
            <a:rPr lang="en-US" sz="2100" b="0" i="0" kern="1200" dirty="0" smtClean="0"/>
            <a:t>3</a:t>
          </a:r>
          <a:endParaRPr lang="en-US" sz="2100" b="0" i="0" kern="1200" dirty="0"/>
        </a:p>
      </dsp:txBody>
      <dsp:txXfrm rot="5400000">
        <a:off x="-153077" y="1783381"/>
        <a:ext cx="1020518" cy="714362"/>
      </dsp:txXfrm>
    </dsp:sp>
    <dsp:sp modelId="{1C6C0C34-A649-4328-A99C-E3A5CBD061FB}">
      <dsp:nvSpPr>
        <dsp:cNvPr id="0" name=""/>
        <dsp:cNvSpPr/>
      </dsp:nvSpPr>
      <dsp:spPr>
        <a:xfrm rot="5400000">
          <a:off x="5283312" y="-2938646"/>
          <a:ext cx="663336" cy="9801237"/>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b="0" i="0" kern="1200" dirty="0" smtClean="0"/>
            <a:t>However, data collection and sharing raise ethical concerns, including privacy, security, and intellectual property rights</a:t>
          </a:r>
          <a:endParaRPr lang="en-US" sz="2100" kern="1200" dirty="0"/>
        </a:p>
      </dsp:txBody>
      <dsp:txXfrm rot="5400000">
        <a:off x="5283312" y="-2938646"/>
        <a:ext cx="663336" cy="980123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7" name="Google Shape;27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Candara"/>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ndar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ndar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ndar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ndar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a:spLocks noGrp="1"/>
          </p:cNvSpPr>
          <p:nvPr>
            <p:ph type="pic" idx="2"/>
          </p:nvPr>
        </p:nvSpPr>
        <p:spPr>
          <a:xfrm>
            <a:off x="5183188" y="987425"/>
            <a:ext cx="6172200" cy="4873625"/>
          </a:xfrm>
          <a:prstGeom prst="rect">
            <a:avLst/>
          </a:prstGeom>
          <a:noFill/>
          <a:ln>
            <a:noFill/>
          </a:ln>
        </p:spPr>
      </p:sp>
      <p:sp>
        <p:nvSpPr>
          <p:cNvPr id="69" name="Google Shape;69;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3807619" y="-1369218"/>
            <a:ext cx="4576763"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Candara"/>
              <a:buNone/>
              <a:defRPr sz="3600" b="0" i="0" u="none" strike="noStrike" cap="none">
                <a:solidFill>
                  <a:schemeClr val="dk1"/>
                </a:solidFill>
                <a:latin typeface="Candara"/>
                <a:ea typeface="Candara"/>
                <a:cs typeface="Candara"/>
                <a:sym typeface="Canda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4pPr>
            <a:lvl5pPr marL="2286000" marR="0" lvl="4"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5" name="Google Shape;15;p1"/>
          <p:cNvSpPr/>
          <p:nvPr/>
        </p:nvSpPr>
        <p:spPr>
          <a:xfrm>
            <a:off x="838200" y="1497013"/>
            <a:ext cx="10515600" cy="103187"/>
          </a:xfrm>
          <a:prstGeom prst="roundRect">
            <a:avLst>
              <a:gd name="adj" fmla="val 16667"/>
            </a:avLst>
          </a:prstGeom>
          <a:solidFill>
            <a:srgbClr val="00B0F0"/>
          </a:solidFill>
          <a:ln w="12700" cap="flat" cmpd="sng">
            <a:solidFill>
              <a:srgbClr val="0C0C0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gif"/><Relationship Id="rId3" Type="http://schemas.openxmlformats.org/officeDocument/2006/relationships/image" Target="../media/image2.png"/><Relationship Id="rId7"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3" descr="A logo with text and red and black stripes&#10;&#10;Description automatically generated with medium confidence"/>
          <p:cNvPicPr preferRelativeResize="0"/>
          <p:nvPr/>
        </p:nvPicPr>
        <p:blipFill rotWithShape="1">
          <a:blip r:embed="rId3">
            <a:alphaModFix/>
          </a:blip>
          <a:srcRect/>
          <a:stretch/>
        </p:blipFill>
        <p:spPr>
          <a:xfrm>
            <a:off x="5317656" y="371321"/>
            <a:ext cx="1556687" cy="939158"/>
          </a:xfrm>
          <a:prstGeom prst="rect">
            <a:avLst/>
          </a:prstGeom>
          <a:noFill/>
          <a:ln w="9525" cap="flat" cmpd="sng">
            <a:solidFill>
              <a:srgbClr val="0C0C0C"/>
            </a:solidFill>
            <a:prstDash val="solid"/>
            <a:round/>
            <a:headEnd type="none" w="sm" len="sm"/>
            <a:tailEnd type="none" w="sm" len="sm"/>
          </a:ln>
        </p:spPr>
      </p:pic>
      <p:sp>
        <p:nvSpPr>
          <p:cNvPr id="90" name="Google Shape;90;p13"/>
          <p:cNvSpPr txBox="1"/>
          <p:nvPr/>
        </p:nvSpPr>
        <p:spPr>
          <a:xfrm>
            <a:off x="1546858" y="2895600"/>
            <a:ext cx="9098281" cy="1066800"/>
          </a:xfrm>
          <a:prstGeom prst="rect">
            <a:avLst/>
          </a:prstGeom>
          <a:noFill/>
          <a:ln>
            <a:noFill/>
          </a:ln>
        </p:spPr>
        <p:txBody>
          <a:bodyPr spcFirstLastPara="1" wrap="square" lIns="91425" tIns="45700" rIns="91425" bIns="45700" anchor="ctr" anchorCtr="0">
            <a:normAutofit fontScale="97500"/>
          </a:bodyPr>
          <a:lstStyle/>
          <a:p>
            <a:pPr lvl="0" algn="ctr">
              <a:lnSpc>
                <a:spcPct val="90000"/>
              </a:lnSpc>
              <a:buClr>
                <a:srgbClr val="FF0000"/>
              </a:buClr>
              <a:buSzPct val="100000"/>
            </a:pPr>
            <a:r>
              <a:rPr lang="en-US" sz="2400" dirty="0" smtClean="0">
                <a:latin typeface="Candara" pitchFamily="34" charset="0"/>
              </a:rPr>
              <a:t>Enhancing Privacy in Text Data: A Metric-Differential </a:t>
            </a:r>
          </a:p>
          <a:p>
            <a:pPr lvl="0" algn="ctr">
              <a:lnSpc>
                <a:spcPct val="90000"/>
              </a:lnSpc>
              <a:buClr>
                <a:srgbClr val="FF0000"/>
              </a:buClr>
              <a:buSzPct val="100000"/>
            </a:pPr>
            <a:r>
              <a:rPr lang="en-US" sz="2400" dirty="0" smtClean="0">
                <a:latin typeface="Candara" pitchFamily="34" charset="0"/>
              </a:rPr>
              <a:t>Privacy Approach.</a:t>
            </a:r>
            <a:endParaRPr sz="2400" dirty="0">
              <a:latin typeface="Candara" pitchFamily="34" charset="0"/>
            </a:endParaRPr>
          </a:p>
        </p:txBody>
      </p:sp>
      <p:sp>
        <p:nvSpPr>
          <p:cNvPr id="91" name="Google Shape;91;p13"/>
          <p:cNvSpPr txBox="1"/>
          <p:nvPr/>
        </p:nvSpPr>
        <p:spPr>
          <a:xfrm>
            <a:off x="8468895" y="4608871"/>
            <a:ext cx="38100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0C0C0C"/>
                </a:solidFill>
                <a:latin typeface="Candara"/>
                <a:ea typeface="Candara"/>
                <a:cs typeface="Candara"/>
                <a:sym typeface="Candara"/>
              </a:rPr>
              <a:t> Adeel Ahmad Khan </a:t>
            </a:r>
            <a:endParaRPr/>
          </a:p>
          <a:p>
            <a:pPr marL="0" marR="0" lvl="0" indent="0" algn="l" rtl="0">
              <a:spcBef>
                <a:spcPts val="0"/>
              </a:spcBef>
              <a:spcAft>
                <a:spcPts val="0"/>
              </a:spcAft>
              <a:buNone/>
            </a:pPr>
            <a:r>
              <a:rPr lang="en-US" sz="2400">
                <a:solidFill>
                  <a:srgbClr val="0C0C0C"/>
                </a:solidFill>
                <a:latin typeface="Candara"/>
                <a:ea typeface="Candara"/>
                <a:cs typeface="Candara"/>
                <a:sym typeface="Candara"/>
              </a:rPr>
              <a:t> CS22M102</a:t>
            </a:r>
            <a:endParaRPr/>
          </a:p>
        </p:txBody>
      </p:sp>
      <p:sp>
        <p:nvSpPr>
          <p:cNvPr id="92" name="Google Shape;92;p13"/>
          <p:cNvSpPr txBox="1"/>
          <p:nvPr/>
        </p:nvSpPr>
        <p:spPr>
          <a:xfrm>
            <a:off x="1464143" y="4608871"/>
            <a:ext cx="54102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C0C0C"/>
                </a:solidFill>
                <a:latin typeface="Candara"/>
                <a:ea typeface="Candara"/>
                <a:cs typeface="Candara"/>
                <a:sym typeface="Candara"/>
              </a:rPr>
              <a:t>Supervisor </a:t>
            </a:r>
            <a:endParaRPr/>
          </a:p>
          <a:p>
            <a:pPr marL="0" marR="0" lvl="0" indent="0" algn="l" rtl="0">
              <a:spcBef>
                <a:spcPts val="0"/>
              </a:spcBef>
              <a:spcAft>
                <a:spcPts val="0"/>
              </a:spcAft>
              <a:buNone/>
            </a:pPr>
            <a:r>
              <a:rPr lang="en-US" sz="2400">
                <a:solidFill>
                  <a:srgbClr val="0C0C0C"/>
                </a:solidFill>
                <a:latin typeface="Candara"/>
                <a:ea typeface="Candara"/>
                <a:cs typeface="Candara"/>
                <a:sym typeface="Candara"/>
              </a:rPr>
              <a:t>Dr. Srinivas Padmanabhuni</a:t>
            </a:r>
            <a:endParaRPr/>
          </a:p>
        </p:txBody>
      </p:sp>
      <p:sp>
        <p:nvSpPr>
          <p:cNvPr id="93" name="Google Shape;93;p13"/>
          <p:cNvSpPr txBox="1"/>
          <p:nvPr/>
        </p:nvSpPr>
        <p:spPr>
          <a:xfrm>
            <a:off x="1750143" y="1753829"/>
            <a:ext cx="8504902" cy="9906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171616"/>
              </a:buClr>
              <a:buSzPts val="2400"/>
              <a:buFont typeface="Arial"/>
              <a:buNone/>
            </a:pPr>
            <a:r>
              <a:rPr lang="en-US" sz="2400" b="0" u="none" dirty="0">
                <a:solidFill>
                  <a:srgbClr val="171616"/>
                </a:solidFill>
                <a:latin typeface="Candara"/>
                <a:ea typeface="Candara"/>
                <a:cs typeface="Candara"/>
                <a:sym typeface="Candara"/>
              </a:rPr>
              <a:t>Department of Computer Science and </a:t>
            </a:r>
            <a:r>
              <a:rPr lang="en-US" sz="2400" b="0" u="none" dirty="0" err="1">
                <a:solidFill>
                  <a:srgbClr val="171616"/>
                </a:solidFill>
                <a:latin typeface="Candara"/>
                <a:ea typeface="Candara"/>
                <a:cs typeface="Candara"/>
                <a:sym typeface="Candara"/>
              </a:rPr>
              <a:t>Engineering,Indian</a:t>
            </a:r>
            <a:r>
              <a:rPr lang="en-US" sz="2400" b="0" u="none" dirty="0">
                <a:solidFill>
                  <a:srgbClr val="171616"/>
                </a:solidFill>
                <a:latin typeface="Candara"/>
                <a:ea typeface="Candara"/>
                <a:cs typeface="Candara"/>
                <a:sym typeface="Candara"/>
              </a:rPr>
              <a:t> Institute of Technology, </a:t>
            </a:r>
            <a:r>
              <a:rPr lang="en-US" sz="2400" b="0" u="none" dirty="0" err="1">
                <a:solidFill>
                  <a:srgbClr val="171616"/>
                </a:solidFill>
                <a:latin typeface="Candara"/>
                <a:ea typeface="Candara"/>
                <a:cs typeface="Candara"/>
                <a:sym typeface="Candara"/>
              </a:rPr>
              <a:t>Tirupati,India</a:t>
            </a:r>
            <a:r>
              <a:rPr lang="en-US" sz="2400" b="0" u="none" dirty="0">
                <a:solidFill>
                  <a:srgbClr val="171616"/>
                </a:solidFill>
                <a:latin typeface="Candara"/>
                <a:ea typeface="Candara"/>
                <a:cs typeface="Candara"/>
                <a:sym typeface="Candara"/>
              </a:rPr>
              <a:t>.</a:t>
            </a:r>
            <a:endParaRPr dirty="0"/>
          </a:p>
        </p:txBody>
      </p:sp>
      <p:sp>
        <p:nvSpPr>
          <p:cNvPr id="94" name="Google Shape;9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3200"/>
            </a:pPr>
            <a:r>
              <a:rPr lang="en-US" sz="3200" dirty="0" smtClean="0">
                <a:solidFill>
                  <a:srgbClr val="FF0000"/>
                </a:solidFill>
              </a:rPr>
              <a:t>Enhancing Privacy in Text Data: A Metric-Differential Privacy Approach.</a:t>
            </a:r>
            <a:br>
              <a:rPr lang="en-US" sz="3200" dirty="0" smtClean="0">
                <a:solidFill>
                  <a:srgbClr val="FF0000"/>
                </a:solidFill>
              </a:rPr>
            </a:br>
            <a:r>
              <a:rPr lang="en-US" sz="3200" dirty="0" smtClean="0"/>
              <a:t>Motivation</a:t>
            </a:r>
            <a:endParaRPr dirty="0"/>
          </a:p>
        </p:txBody>
      </p:sp>
      <p:sp>
        <p:nvSpPr>
          <p:cNvPr id="100" name="Google Shape;100;p14"/>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r>
              <a:rPr lang="en-US" sz="1800" dirty="0" smtClean="0"/>
              <a:t>Large Language Models (LLMs) saw a substantial upsurge in interest in 2023.</a:t>
            </a:r>
          </a:p>
          <a:p>
            <a:r>
              <a:rPr lang="en-US" sz="1800" dirty="0" smtClean="0"/>
              <a:t>By December 2022, </a:t>
            </a:r>
            <a:r>
              <a:rPr lang="en-US" sz="1800" dirty="0" err="1" smtClean="0"/>
              <a:t>ChatGPT</a:t>
            </a:r>
            <a:r>
              <a:rPr lang="en-US" sz="1800" dirty="0" smtClean="0"/>
              <a:t> alone had over </a:t>
            </a:r>
            <a:r>
              <a:rPr lang="en-US" sz="1800" b="1" dirty="0" smtClean="0"/>
              <a:t>57 million users </a:t>
            </a:r>
            <a:r>
              <a:rPr lang="en-US" sz="1800" dirty="0" smtClean="0"/>
              <a:t>worldwide, according to </a:t>
            </a:r>
            <a:r>
              <a:rPr lang="en-US" sz="1800" b="1" dirty="0" err="1" smtClean="0"/>
              <a:t>Statista</a:t>
            </a:r>
            <a:r>
              <a:rPr lang="en-US" sz="1800" b="1" dirty="0" smtClean="0"/>
              <a:t>.</a:t>
            </a:r>
          </a:p>
          <a:p>
            <a:r>
              <a:rPr lang="en-US" sz="1800" dirty="0" smtClean="0"/>
              <a:t>With </a:t>
            </a:r>
            <a:r>
              <a:rPr lang="en-US" sz="1800" b="1" dirty="0" smtClean="0"/>
              <a:t>100 million users </a:t>
            </a:r>
            <a:r>
              <a:rPr lang="en-US" sz="1800" dirty="0" smtClean="0"/>
              <a:t>active every week, this number climbed to around </a:t>
            </a:r>
            <a:r>
              <a:rPr lang="en-US" sz="1800" b="1" dirty="0" smtClean="0"/>
              <a:t>120 million </a:t>
            </a:r>
            <a:r>
              <a:rPr lang="en-US" sz="1800" dirty="0" smtClean="0"/>
              <a:t>by January 2023 and then to </a:t>
            </a:r>
            <a:r>
              <a:rPr lang="en-US" sz="1800" b="1" dirty="0" smtClean="0"/>
              <a:t>180.5 million </a:t>
            </a:r>
            <a:r>
              <a:rPr lang="en-US" sz="1800" dirty="0" smtClean="0"/>
              <a:t>by April 2024.</a:t>
            </a:r>
          </a:p>
          <a:p>
            <a:r>
              <a:rPr lang="en-US" sz="1800" dirty="0" smtClean="0"/>
              <a:t>According to a research by </a:t>
            </a:r>
            <a:r>
              <a:rPr lang="en-US" sz="1800" b="1" dirty="0" smtClean="0"/>
              <a:t>springapps.com, </a:t>
            </a:r>
            <a:r>
              <a:rPr lang="en-US" sz="1800" dirty="0" smtClean="0"/>
              <a:t>LLMs will be used by about </a:t>
            </a:r>
            <a:r>
              <a:rPr lang="en-US" sz="1800" b="1" dirty="0" smtClean="0"/>
              <a:t>750 million apps </a:t>
            </a:r>
            <a:r>
              <a:rPr lang="en-US" sz="1800" dirty="0" smtClean="0"/>
              <a:t>by 2025.</a:t>
            </a:r>
          </a:p>
          <a:p>
            <a:r>
              <a:rPr lang="en-US" sz="1800" dirty="0" smtClean="0"/>
              <a:t>The LLM market is expected to experience substantial growth, with a projected </a:t>
            </a:r>
            <a:r>
              <a:rPr lang="en-US" sz="1800" b="1" dirty="0" smtClean="0"/>
              <a:t>CAGR of 79.80% between 2024 and 2030.</a:t>
            </a:r>
          </a:p>
          <a:p>
            <a:r>
              <a:rPr lang="en-US" sz="1800" dirty="0" smtClean="0"/>
              <a:t>The market is anticipated to reach a value of </a:t>
            </a:r>
            <a:r>
              <a:rPr lang="en-US" sz="1800" b="1" dirty="0" smtClean="0"/>
              <a:t>USD 259.82 </a:t>
            </a:r>
            <a:r>
              <a:rPr lang="en-US" sz="1800" dirty="0" smtClean="0"/>
              <a:t>billion by 2030, </a:t>
            </a:r>
            <a:r>
              <a:rPr lang="en-US" sz="1800" b="1" dirty="0" smtClean="0"/>
              <a:t>up from USD 1.59 </a:t>
            </a:r>
            <a:r>
              <a:rPr lang="en-US" sz="1800" dirty="0" smtClean="0"/>
              <a:t>billion in 2023.</a:t>
            </a:r>
          </a:p>
          <a:p>
            <a:r>
              <a:rPr lang="en-US" sz="1800" dirty="0" smtClean="0"/>
              <a:t>The requirement for data unique to NLP business demands will inevitably rise as a result of the need to fine-tune models. </a:t>
            </a:r>
          </a:p>
          <a:p>
            <a:r>
              <a:rPr lang="en-US" sz="1800" dirty="0" smtClean="0"/>
              <a:t>The </a:t>
            </a:r>
            <a:r>
              <a:rPr lang="en-US" sz="1800" b="1" dirty="0" smtClean="0"/>
              <a:t>2024 Global Threat Intelligence</a:t>
            </a:r>
            <a:r>
              <a:rPr lang="en-US" sz="1800" dirty="0" smtClean="0"/>
              <a:t> Report from Flashpoint states that </a:t>
            </a:r>
            <a:r>
              <a:rPr lang="en-US" sz="1800" b="1" dirty="0" smtClean="0"/>
              <a:t>over 17 billion personal records </a:t>
            </a:r>
            <a:r>
              <a:rPr lang="en-US" sz="1800" dirty="0" smtClean="0"/>
              <a:t>were compromised in 2023, accounting for a </a:t>
            </a:r>
            <a:r>
              <a:rPr lang="en-US" sz="1800" b="1" dirty="0" smtClean="0"/>
              <a:t>34.5% increase </a:t>
            </a:r>
            <a:r>
              <a:rPr lang="en-US" sz="1800" dirty="0" smtClean="0"/>
              <a:t>in reported data breach events. </a:t>
            </a:r>
            <a:br>
              <a:rPr lang="en-US" sz="1800" dirty="0" smtClean="0"/>
            </a:br>
            <a:endParaRPr lang="en-US" sz="1800" dirty="0" smtClean="0"/>
          </a:p>
          <a:p>
            <a:pPr marL="0" lvl="0" indent="0" algn="l" rtl="0">
              <a:lnSpc>
                <a:spcPct val="90000"/>
              </a:lnSpc>
              <a:spcBef>
                <a:spcPts val="0"/>
              </a:spcBef>
              <a:spcAft>
                <a:spcPts val="0"/>
              </a:spcAft>
              <a:buClr>
                <a:schemeClr val="dk1"/>
              </a:buClr>
              <a:buSzPts val="1800"/>
              <a:buNone/>
            </a:pPr>
            <a:endParaRPr sz="1800" dirty="0"/>
          </a:p>
        </p:txBody>
      </p:sp>
      <p:sp>
        <p:nvSpPr>
          <p:cNvPr id="101" name="Google Shape;10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15"/>
          <p:cNvSpPr/>
          <p:nvPr/>
        </p:nvSpPr>
        <p:spPr>
          <a:xfrm flipH="1">
            <a:off x="2788244" y="0"/>
            <a:ext cx="9403756" cy="6858000"/>
          </a:xfrm>
          <a:prstGeom prst="rect">
            <a:avLst/>
          </a:prstGeom>
          <a:gradFill>
            <a:gsLst>
              <a:gs pos="0">
                <a:srgbClr val="000000">
                  <a:alpha val="0"/>
                </a:srgbClr>
              </a:gs>
              <a:gs pos="30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15"/>
          <p:cNvSpPr/>
          <p:nvPr/>
        </p:nvSpPr>
        <p:spPr>
          <a:xfrm rot="5400000">
            <a:off x="8130540"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9" name="Google Shape;109;p15"/>
          <p:cNvSpPr/>
          <p:nvPr/>
        </p:nvSpPr>
        <p:spPr>
          <a:xfrm>
            <a:off x="7851648" y="4546920"/>
            <a:ext cx="4023360" cy="1828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0" name="Google Shape;110;p15"/>
          <p:cNvSpPr txBox="1">
            <a:spLocks noGrp="1"/>
          </p:cNvSpPr>
          <p:nvPr>
            <p:ph type="sldNum" idx="12"/>
          </p:nvPr>
        </p:nvSpPr>
        <p:spPr>
          <a:xfrm>
            <a:off x="11150138" y="6356350"/>
            <a:ext cx="721822"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chemeClr val="lt1"/>
                </a:solidFill>
                <a:latin typeface="Calibri"/>
                <a:ea typeface="Calibri"/>
                <a:cs typeface="Calibri"/>
                <a:sym typeface="Calibri"/>
              </a:rPr>
              <a:pPr marL="0" lvl="0" indent="0" algn="r" rtl="0">
                <a:spcBef>
                  <a:spcPts val="0"/>
                </a:spcBef>
                <a:spcAft>
                  <a:spcPts val="0"/>
                </a:spcAft>
                <a:buNone/>
              </a:pPr>
              <a:t>3</a:t>
            </a:fld>
            <a:endParaRPr>
              <a:solidFill>
                <a:schemeClr val="lt1"/>
              </a:solidFill>
              <a:latin typeface="Calibri"/>
              <a:ea typeface="Calibri"/>
              <a:cs typeface="Calibri"/>
              <a:sym typeface="Calibri"/>
            </a:endParaRPr>
          </a:p>
        </p:txBody>
      </p:sp>
      <p:grpSp>
        <p:nvGrpSpPr>
          <p:cNvPr id="111" name="Google Shape;111;p15"/>
          <p:cNvGrpSpPr/>
          <p:nvPr/>
        </p:nvGrpSpPr>
        <p:grpSpPr>
          <a:xfrm>
            <a:off x="4807228" y="814631"/>
            <a:ext cx="1677540" cy="1533522"/>
            <a:chOff x="7851648" y="1138136"/>
            <a:chExt cx="1156165" cy="1115992"/>
          </a:xfrm>
        </p:grpSpPr>
        <p:sp>
          <p:nvSpPr>
            <p:cNvPr id="112" name="Google Shape;112;p15"/>
            <p:cNvSpPr/>
            <p:nvPr/>
          </p:nvSpPr>
          <p:spPr>
            <a:xfrm>
              <a:off x="7851648" y="1138136"/>
              <a:ext cx="1156165" cy="1115992"/>
            </a:xfrm>
            <a:prstGeom prst="ellipse">
              <a:avLst/>
            </a:prstGeom>
            <a:solidFill>
              <a:srgbClr val="66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3" name="Google Shape;113;p15" descr="Monitor with solid fill"/>
            <p:cNvPicPr preferRelativeResize="0"/>
            <p:nvPr/>
          </p:nvPicPr>
          <p:blipFill rotWithShape="1">
            <a:blip r:embed="rId3">
              <a:alphaModFix/>
            </a:blip>
            <a:srcRect/>
            <a:stretch/>
          </p:blipFill>
          <p:spPr>
            <a:xfrm>
              <a:off x="7972530" y="1244405"/>
              <a:ext cx="914400" cy="914400"/>
            </a:xfrm>
            <a:prstGeom prst="rect">
              <a:avLst/>
            </a:prstGeom>
            <a:noFill/>
            <a:ln>
              <a:noFill/>
            </a:ln>
          </p:spPr>
        </p:pic>
        <p:pic>
          <p:nvPicPr>
            <p:cNvPr id="114" name="Google Shape;114;p15" descr="Textual Data Overview - EWSolutions"/>
            <p:cNvPicPr preferRelativeResize="0"/>
            <p:nvPr/>
          </p:nvPicPr>
          <p:blipFill rotWithShape="1">
            <a:blip r:embed="rId4">
              <a:alphaModFix/>
            </a:blip>
            <a:srcRect/>
            <a:stretch/>
          </p:blipFill>
          <p:spPr>
            <a:xfrm>
              <a:off x="8108414" y="1432193"/>
              <a:ext cx="646323" cy="425985"/>
            </a:xfrm>
            <a:prstGeom prst="rect">
              <a:avLst/>
            </a:prstGeom>
            <a:noFill/>
            <a:ln>
              <a:noFill/>
            </a:ln>
          </p:spPr>
        </p:pic>
      </p:grpSp>
      <p:grpSp>
        <p:nvGrpSpPr>
          <p:cNvPr id="115" name="Google Shape;115;p15"/>
          <p:cNvGrpSpPr/>
          <p:nvPr/>
        </p:nvGrpSpPr>
        <p:grpSpPr>
          <a:xfrm>
            <a:off x="552060" y="2081424"/>
            <a:ext cx="2432300" cy="2695151"/>
            <a:chOff x="9285245" y="2313008"/>
            <a:chExt cx="1173368" cy="1133991"/>
          </a:xfrm>
        </p:grpSpPr>
        <p:sp>
          <p:nvSpPr>
            <p:cNvPr id="116" name="Google Shape;116;p15"/>
            <p:cNvSpPr/>
            <p:nvPr/>
          </p:nvSpPr>
          <p:spPr>
            <a:xfrm>
              <a:off x="9285245" y="2313008"/>
              <a:ext cx="1156165" cy="1115992"/>
            </a:xfrm>
            <a:prstGeom prst="ellipse">
              <a:avLst/>
            </a:prstGeom>
            <a:solidFill>
              <a:srgbClr val="66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7" name="Google Shape;117;p15" descr="Hacker mask hi-res stock photography and images - Alamy"/>
            <p:cNvPicPr preferRelativeResize="0"/>
            <p:nvPr/>
          </p:nvPicPr>
          <p:blipFill rotWithShape="1">
            <a:blip r:embed="rId5">
              <a:alphaModFix/>
            </a:blip>
            <a:srcRect/>
            <a:stretch/>
          </p:blipFill>
          <p:spPr>
            <a:xfrm>
              <a:off x="9302447" y="2331007"/>
              <a:ext cx="1156166" cy="1115992"/>
            </a:xfrm>
            <a:prstGeom prst="flowChartConnector">
              <a:avLst/>
            </a:prstGeom>
            <a:noFill/>
            <a:ln>
              <a:noFill/>
            </a:ln>
          </p:spPr>
        </p:pic>
      </p:grpSp>
      <p:grpSp>
        <p:nvGrpSpPr>
          <p:cNvPr id="118" name="Google Shape;118;p15"/>
          <p:cNvGrpSpPr/>
          <p:nvPr/>
        </p:nvGrpSpPr>
        <p:grpSpPr>
          <a:xfrm>
            <a:off x="4807227" y="4347320"/>
            <a:ext cx="1811865" cy="1696050"/>
            <a:chOff x="5517917" y="4895276"/>
            <a:chExt cx="1156165" cy="1115992"/>
          </a:xfrm>
        </p:grpSpPr>
        <p:sp>
          <p:nvSpPr>
            <p:cNvPr id="119" name="Google Shape;119;p15"/>
            <p:cNvSpPr/>
            <p:nvPr/>
          </p:nvSpPr>
          <p:spPr>
            <a:xfrm>
              <a:off x="5517917" y="4895276"/>
              <a:ext cx="1156165" cy="1115992"/>
            </a:xfrm>
            <a:prstGeom prst="ellipse">
              <a:avLst/>
            </a:prstGeom>
            <a:solidFill>
              <a:srgbClr val="66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0" name="Google Shape;120;p15" descr="Monitor with solid fill"/>
            <p:cNvPicPr preferRelativeResize="0"/>
            <p:nvPr/>
          </p:nvPicPr>
          <p:blipFill rotWithShape="1">
            <a:blip r:embed="rId3">
              <a:alphaModFix/>
            </a:blip>
            <a:srcRect/>
            <a:stretch/>
          </p:blipFill>
          <p:spPr>
            <a:xfrm>
              <a:off x="5645998" y="5072408"/>
              <a:ext cx="914400" cy="914400"/>
            </a:xfrm>
            <a:prstGeom prst="rect">
              <a:avLst/>
            </a:prstGeom>
            <a:noFill/>
            <a:ln>
              <a:noFill/>
            </a:ln>
          </p:spPr>
        </p:pic>
        <p:pic>
          <p:nvPicPr>
            <p:cNvPr id="121" name="Google Shape;121;p15" descr="Textual Data Overview - EWSolutions"/>
            <p:cNvPicPr preferRelativeResize="0"/>
            <p:nvPr/>
          </p:nvPicPr>
          <p:blipFill rotWithShape="1">
            <a:blip r:embed="rId4">
              <a:alphaModFix/>
            </a:blip>
            <a:srcRect/>
            <a:stretch/>
          </p:blipFill>
          <p:spPr>
            <a:xfrm>
              <a:off x="5781882" y="5260196"/>
              <a:ext cx="646323" cy="425985"/>
            </a:xfrm>
            <a:prstGeom prst="rect">
              <a:avLst/>
            </a:prstGeom>
            <a:noFill/>
            <a:ln>
              <a:noFill/>
            </a:ln>
          </p:spPr>
        </p:pic>
        <p:pic>
          <p:nvPicPr>
            <p:cNvPr id="122" name="Google Shape;122;p15" descr="Lock with solid fill"/>
            <p:cNvPicPr preferRelativeResize="0"/>
            <p:nvPr/>
          </p:nvPicPr>
          <p:blipFill rotWithShape="1">
            <a:blip r:embed="rId6">
              <a:alphaModFix/>
            </a:blip>
            <a:srcRect/>
            <a:stretch/>
          </p:blipFill>
          <p:spPr>
            <a:xfrm>
              <a:off x="5866683" y="5226023"/>
              <a:ext cx="458632" cy="458632"/>
            </a:xfrm>
            <a:prstGeom prst="rect">
              <a:avLst/>
            </a:prstGeom>
            <a:noFill/>
            <a:ln>
              <a:noFill/>
            </a:ln>
          </p:spPr>
        </p:pic>
      </p:grpSp>
      <p:sp>
        <p:nvSpPr>
          <p:cNvPr id="123" name="Google Shape;123;p15"/>
          <p:cNvSpPr/>
          <p:nvPr/>
        </p:nvSpPr>
        <p:spPr>
          <a:xfrm>
            <a:off x="8753727" y="933434"/>
            <a:ext cx="1369988" cy="1080000"/>
          </a:xfrm>
          <a:prstGeom prst="ellipse">
            <a:avLst/>
          </a:prstGeom>
          <a:solidFill>
            <a:srgbClr val="66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4" name="Google Shape;124;p15" descr="Who is the most richest personality in tollywood? You can mention producer  names as well : r/tollywood"/>
          <p:cNvPicPr preferRelativeResize="0"/>
          <p:nvPr/>
        </p:nvPicPr>
        <p:blipFill rotWithShape="1">
          <a:blip r:embed="rId7">
            <a:alphaModFix/>
          </a:blip>
          <a:srcRect/>
          <a:stretch/>
        </p:blipFill>
        <p:spPr>
          <a:xfrm>
            <a:off x="8753725" y="627289"/>
            <a:ext cx="1369989" cy="1752966"/>
          </a:xfrm>
          <a:prstGeom prst="flowChartConnector">
            <a:avLst/>
          </a:prstGeom>
          <a:noFill/>
          <a:ln w="9525" cap="flat" cmpd="sng">
            <a:solidFill>
              <a:schemeClr val="lt1"/>
            </a:solidFill>
            <a:prstDash val="solid"/>
            <a:round/>
            <a:headEnd type="none" w="sm" len="sm"/>
            <a:tailEnd type="none" w="sm" len="sm"/>
          </a:ln>
        </p:spPr>
      </p:pic>
      <p:cxnSp>
        <p:nvCxnSpPr>
          <p:cNvPr id="125" name="Google Shape;125;p15"/>
          <p:cNvCxnSpPr/>
          <p:nvPr/>
        </p:nvCxnSpPr>
        <p:spPr>
          <a:xfrm rot="10800000" flipH="1">
            <a:off x="2948700" y="1643743"/>
            <a:ext cx="1677729" cy="704410"/>
          </a:xfrm>
          <a:prstGeom prst="straightConnector1">
            <a:avLst/>
          </a:prstGeom>
          <a:noFill/>
          <a:ln w="79375" cap="flat" cmpd="sng">
            <a:solidFill>
              <a:schemeClr val="dk1"/>
            </a:solidFill>
            <a:prstDash val="solid"/>
            <a:miter lim="800000"/>
            <a:headEnd type="none" w="sm" len="sm"/>
            <a:tailEnd type="stealth" w="med" len="med"/>
          </a:ln>
        </p:spPr>
      </p:cxnSp>
      <p:cxnSp>
        <p:nvCxnSpPr>
          <p:cNvPr id="126" name="Google Shape;126;p15"/>
          <p:cNvCxnSpPr/>
          <p:nvPr/>
        </p:nvCxnSpPr>
        <p:spPr>
          <a:xfrm>
            <a:off x="2984358" y="4616520"/>
            <a:ext cx="1642071" cy="848562"/>
          </a:xfrm>
          <a:prstGeom prst="straightConnector1">
            <a:avLst/>
          </a:prstGeom>
          <a:noFill/>
          <a:ln w="79375" cap="flat" cmpd="sng">
            <a:solidFill>
              <a:schemeClr val="dk1"/>
            </a:solidFill>
            <a:prstDash val="solid"/>
            <a:miter lim="800000"/>
            <a:headEnd type="none" w="sm" len="sm"/>
            <a:tailEnd type="stealth" w="med" len="med"/>
          </a:ln>
        </p:spPr>
      </p:cxnSp>
      <p:cxnSp>
        <p:nvCxnSpPr>
          <p:cNvPr id="127" name="Google Shape;127;p15"/>
          <p:cNvCxnSpPr/>
          <p:nvPr/>
        </p:nvCxnSpPr>
        <p:spPr>
          <a:xfrm>
            <a:off x="6744453" y="1503772"/>
            <a:ext cx="1642071" cy="7613"/>
          </a:xfrm>
          <a:prstGeom prst="straightConnector1">
            <a:avLst/>
          </a:prstGeom>
          <a:noFill/>
          <a:ln w="79375" cap="flat" cmpd="sng">
            <a:solidFill>
              <a:schemeClr val="lt1"/>
            </a:solidFill>
            <a:prstDash val="solid"/>
            <a:miter lim="800000"/>
            <a:headEnd type="none" w="sm" len="sm"/>
            <a:tailEnd type="stealth" w="med" len="med"/>
          </a:ln>
        </p:spPr>
      </p:cxnSp>
      <p:cxnSp>
        <p:nvCxnSpPr>
          <p:cNvPr id="128" name="Google Shape;128;p15"/>
          <p:cNvCxnSpPr/>
          <p:nvPr/>
        </p:nvCxnSpPr>
        <p:spPr>
          <a:xfrm rot="10800000" flipH="1">
            <a:off x="6832040" y="5465082"/>
            <a:ext cx="1735924" cy="16732"/>
          </a:xfrm>
          <a:prstGeom prst="straightConnector1">
            <a:avLst/>
          </a:prstGeom>
          <a:noFill/>
          <a:ln w="79375" cap="flat" cmpd="sng">
            <a:solidFill>
              <a:schemeClr val="lt1"/>
            </a:solidFill>
            <a:prstDash val="solid"/>
            <a:miter lim="800000"/>
            <a:headEnd type="none" w="sm" len="sm"/>
            <a:tailEnd type="stealth" w="med" len="med"/>
          </a:ln>
        </p:spPr>
      </p:cxnSp>
      <p:sp>
        <p:nvSpPr>
          <p:cNvPr id="129" name="Google Shape;129;p15"/>
          <p:cNvSpPr txBox="1"/>
          <p:nvPr/>
        </p:nvSpPr>
        <p:spPr>
          <a:xfrm>
            <a:off x="4712033" y="2494181"/>
            <a:ext cx="239664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sng">
                <a:solidFill>
                  <a:schemeClr val="lt1"/>
                </a:solidFill>
                <a:latin typeface="Calibri"/>
                <a:ea typeface="Calibri"/>
                <a:cs typeface="Calibri"/>
                <a:sym typeface="Calibri"/>
              </a:rPr>
              <a:t> Unsanitized  Data</a:t>
            </a:r>
            <a:endParaRPr sz="2000" u="sng">
              <a:solidFill>
                <a:schemeClr val="lt1"/>
              </a:solidFill>
              <a:latin typeface="Calibri"/>
              <a:ea typeface="Calibri"/>
              <a:cs typeface="Calibri"/>
              <a:sym typeface="Calibri"/>
            </a:endParaRPr>
          </a:p>
        </p:txBody>
      </p:sp>
      <p:sp>
        <p:nvSpPr>
          <p:cNvPr id="130" name="Google Shape;130;p15"/>
          <p:cNvSpPr txBox="1"/>
          <p:nvPr/>
        </p:nvSpPr>
        <p:spPr>
          <a:xfrm>
            <a:off x="5066912" y="6169580"/>
            <a:ext cx="181186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sng">
                <a:solidFill>
                  <a:schemeClr val="lt1"/>
                </a:solidFill>
                <a:latin typeface="Calibri"/>
                <a:ea typeface="Calibri"/>
                <a:cs typeface="Calibri"/>
                <a:sym typeface="Calibri"/>
              </a:rPr>
              <a:t>Sanitized  Data</a:t>
            </a:r>
            <a:endParaRPr sz="2000" u="sng">
              <a:solidFill>
                <a:schemeClr val="lt1"/>
              </a:solidFill>
              <a:latin typeface="Calibri"/>
              <a:ea typeface="Calibri"/>
              <a:cs typeface="Calibri"/>
              <a:sym typeface="Calibri"/>
            </a:endParaRPr>
          </a:p>
        </p:txBody>
      </p:sp>
      <p:pic>
        <p:nvPicPr>
          <p:cNvPr id="131" name="Google Shape;131;p15" descr="Wtf Stress GIF - Wtf Stress Thinking - Discover &amp; Share GIFs"/>
          <p:cNvPicPr preferRelativeResize="0"/>
          <p:nvPr/>
        </p:nvPicPr>
        <p:blipFill rotWithShape="1">
          <a:blip r:embed="rId8">
            <a:alphaModFix/>
          </a:blip>
          <a:srcRect/>
          <a:stretch/>
        </p:blipFill>
        <p:spPr>
          <a:xfrm flipH="1">
            <a:off x="8855275" y="4347320"/>
            <a:ext cx="1512044" cy="1696049"/>
          </a:xfrm>
          <a:prstGeom prst="flowChartConnector">
            <a:avLst/>
          </a:prstGeom>
          <a:noFill/>
          <a:ln w="9525" cap="flat" cmpd="sng">
            <a:solidFill>
              <a:schemeClr val="lt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graphicFrame>
        <p:nvGraphicFramePr>
          <p:cNvPr id="6" name="Diagram 5"/>
          <p:cNvGraphicFramePr/>
          <p:nvPr/>
        </p:nvGraphicFramePr>
        <p:xfrm>
          <a:off x="838200" y="1600200"/>
          <a:ext cx="10515600" cy="26523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7" name="Google Shape;137;p16"/>
          <p:cNvSpPr txBox="1">
            <a:spLocks noGrp="1"/>
          </p:cNvSpPr>
          <p:nvPr>
            <p:ph type="title"/>
          </p:nvPr>
        </p:nvSpPr>
        <p:spPr>
          <a:xfrm>
            <a:off x="838200" y="365125"/>
            <a:ext cx="10515600" cy="1111250"/>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3200"/>
            </a:pPr>
            <a:r>
              <a:rPr lang="en-US" sz="3200" dirty="0" smtClean="0">
                <a:solidFill>
                  <a:srgbClr val="FF0000"/>
                </a:solidFill>
              </a:rPr>
              <a:t>Enhancing Privacy in Text Data: A Metric-Differential Privacy Approach. </a:t>
            </a:r>
            <a:r>
              <a:rPr lang="en-US" sz="3200" b="1" dirty="0">
                <a:solidFill>
                  <a:srgbClr val="FF0000"/>
                </a:solidFill>
              </a:rPr>
              <a:t/>
            </a:r>
            <a:br>
              <a:rPr lang="en-US" sz="3200" b="1" dirty="0">
                <a:solidFill>
                  <a:srgbClr val="FF0000"/>
                </a:solidFill>
              </a:rPr>
            </a:br>
            <a:r>
              <a:rPr lang="en-US" sz="3200" b="1" dirty="0"/>
              <a:t>Introduction</a:t>
            </a:r>
            <a:endParaRPr dirty="0"/>
          </a:p>
        </p:txBody>
      </p:sp>
      <p:sp>
        <p:nvSpPr>
          <p:cNvPr id="138" name="Google Shape;13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latin typeface="Candara"/>
                <a:ea typeface="Candara"/>
                <a:cs typeface="Candara"/>
                <a:sym typeface="Candara"/>
              </a:rPr>
              <a:pPr marL="0" lvl="0" indent="0" algn="r" rtl="0">
                <a:spcBef>
                  <a:spcPts val="0"/>
                </a:spcBef>
                <a:spcAft>
                  <a:spcPts val="0"/>
                </a:spcAft>
                <a:buNone/>
              </a:pPr>
              <a:t>4</a:t>
            </a:fld>
            <a:endParaRPr sz="2000">
              <a:latin typeface="Candara"/>
              <a:ea typeface="Candara"/>
              <a:cs typeface="Candara"/>
              <a:sym typeface="Candara"/>
            </a:endParaRPr>
          </a:p>
        </p:txBody>
      </p:sp>
      <p:sp>
        <p:nvSpPr>
          <p:cNvPr id="5" name="TextBox 4"/>
          <p:cNvSpPr txBox="1"/>
          <p:nvPr/>
        </p:nvSpPr>
        <p:spPr>
          <a:xfrm>
            <a:off x="837282" y="4351663"/>
            <a:ext cx="10455007" cy="1405513"/>
          </a:xfrm>
          <a:prstGeom prst="rect">
            <a:avLst/>
          </a:prstGeom>
          <a:noFill/>
        </p:spPr>
        <p:txBody>
          <a:bodyPr wrap="square" rtlCol="0">
            <a:spAutoFit/>
          </a:bodyPr>
          <a:lstStyle/>
          <a:p>
            <a:pPr marL="228600" lvl="0" indent="-228600">
              <a:lnSpc>
                <a:spcPct val="150000"/>
              </a:lnSpc>
              <a:spcBef>
                <a:spcPts val="1000"/>
              </a:spcBef>
              <a:buClr>
                <a:schemeClr val="dk1"/>
              </a:buClr>
              <a:buSzPts val="2000"/>
              <a:buChar char="•"/>
            </a:pPr>
            <a:r>
              <a:rPr lang="en-US" b="1" dirty="0" smtClean="0"/>
              <a:t>PRIVACY </a:t>
            </a:r>
            <a:r>
              <a:rPr lang="en-US" dirty="0" smtClean="0"/>
              <a:t>- Privacy relates to personal information that a person would not wish others to know without authorization, and to a person’s right to be free from the attention of others </a:t>
            </a:r>
            <a:r>
              <a:rPr lang="en-US" b="1" dirty="0" smtClean="0"/>
              <a:t>(UN Declaration of Human Rights, 1948).</a:t>
            </a:r>
          </a:p>
          <a:p>
            <a:pPr marL="228600" lvl="0" indent="-228600">
              <a:lnSpc>
                <a:spcPct val="150000"/>
              </a:lnSpc>
              <a:spcBef>
                <a:spcPts val="1000"/>
              </a:spcBef>
              <a:buClr>
                <a:schemeClr val="dk1"/>
              </a:buClr>
              <a:buSzPts val="2000"/>
              <a:buChar char="•"/>
            </a:pPr>
            <a:r>
              <a:rPr lang="en-US" dirty="0" smtClean="0"/>
              <a:t>Privacy issues can cause damage to individuals social and economic standing.</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7"/>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3200"/>
            </a:pPr>
            <a:r>
              <a:rPr lang="en-US" sz="3200" dirty="0" smtClean="0">
                <a:solidFill>
                  <a:srgbClr val="FF0000"/>
                </a:solidFill>
              </a:rPr>
              <a:t>Enhancing Privacy in Text Data: A Metric-Differential Privacy Approach. </a:t>
            </a:r>
            <a:r>
              <a:rPr lang="en-US" sz="3200" b="1" dirty="0">
                <a:solidFill>
                  <a:srgbClr val="FF0000"/>
                </a:solidFill>
              </a:rPr>
              <a:t/>
            </a:r>
            <a:br>
              <a:rPr lang="en-US" sz="3200" b="1" dirty="0">
                <a:solidFill>
                  <a:srgbClr val="FF0000"/>
                </a:solidFill>
              </a:rPr>
            </a:br>
            <a:r>
              <a:rPr lang="en-US" sz="3200" b="1" dirty="0"/>
              <a:t>Introduction</a:t>
            </a:r>
            <a:endParaRPr dirty="0"/>
          </a:p>
        </p:txBody>
      </p:sp>
      <p:sp>
        <p:nvSpPr>
          <p:cNvPr id="144" name="Google Shape;144;p17"/>
          <p:cNvSpPr txBox="1">
            <a:spLocks noGrp="1"/>
          </p:cNvSpPr>
          <p:nvPr>
            <p:ph type="body" idx="1"/>
          </p:nvPr>
        </p:nvSpPr>
        <p:spPr>
          <a:xfrm>
            <a:off x="838200" y="1600200"/>
            <a:ext cx="10515600" cy="2304605"/>
          </a:xfrm>
          <a:prstGeom prst="rect">
            <a:avLst/>
          </a:prstGeom>
          <a:noFill/>
          <a:ln>
            <a:noFill/>
          </a:ln>
        </p:spPr>
        <p:txBody>
          <a:bodyPr spcFirstLastPara="1" wrap="square" lIns="91425" tIns="45700" rIns="91425" bIns="45700" anchor="t" anchorCtr="0">
            <a:noAutofit/>
          </a:bodyPr>
          <a:lstStyle/>
          <a:p>
            <a:pPr marL="228600" indent="-228600"/>
            <a:r>
              <a:rPr lang="en-US" sz="2000" dirty="0" smtClean="0"/>
              <a:t>“</a:t>
            </a:r>
            <a:r>
              <a:rPr lang="en-US" sz="2000" b="1" dirty="0"/>
              <a:t>Differential Privacy </a:t>
            </a:r>
            <a:r>
              <a:rPr lang="en-US" sz="2000" dirty="0" smtClean="0"/>
              <a:t>:</a:t>
            </a:r>
            <a:r>
              <a:rPr lang="en-US" sz="2000" dirty="0"/>
              <a:t> </a:t>
            </a:r>
            <a:r>
              <a:rPr lang="en-US" sz="2000" b="1" dirty="0"/>
              <a:t>You will not be affected adversely or otherwise, by allowing your data to be used in any study or analysis, no matter what other studies, datasets or information sources are available.” </a:t>
            </a:r>
            <a:r>
              <a:rPr lang="en-US" sz="2000" dirty="0"/>
              <a:t>–  </a:t>
            </a:r>
            <a:r>
              <a:rPr lang="en-US" sz="2000" b="1" dirty="0"/>
              <a:t>Cynthia </a:t>
            </a:r>
            <a:r>
              <a:rPr lang="en-US" sz="2000" b="1" dirty="0" err="1" smtClean="0"/>
              <a:t>Dwork</a:t>
            </a:r>
            <a:r>
              <a:rPr lang="en-US" sz="2000" dirty="0" smtClean="0"/>
              <a:t>.</a:t>
            </a:r>
            <a:r>
              <a:rPr lang="en-US" sz="2000" dirty="0"/>
              <a:t> </a:t>
            </a:r>
            <a:endParaRPr lang="en-US" sz="2000" dirty="0" smtClean="0"/>
          </a:p>
          <a:p>
            <a:pPr marL="228600" indent="-228600"/>
            <a:r>
              <a:rPr lang="en-US" sz="2000" b="1" i="1" dirty="0" smtClean="0"/>
              <a:t>Goal of Differential Privacy </a:t>
            </a:r>
            <a:r>
              <a:rPr lang="en-US" sz="2000" dirty="0" smtClean="0"/>
              <a:t>is that different types of statistical analysis does not compromise privacy.</a:t>
            </a:r>
            <a:endParaRPr sz="2000" dirty="0"/>
          </a:p>
          <a:p>
            <a:pPr marL="228600" lvl="0" indent="-228600" algn="l" rtl="0">
              <a:lnSpc>
                <a:spcPct val="90000"/>
              </a:lnSpc>
              <a:spcBef>
                <a:spcPts val="1000"/>
              </a:spcBef>
              <a:spcAft>
                <a:spcPts val="0"/>
              </a:spcAft>
              <a:buClr>
                <a:schemeClr val="dk1"/>
              </a:buClr>
              <a:buSzPts val="1800"/>
              <a:buChar char="•"/>
            </a:pPr>
            <a:r>
              <a:rPr lang="en-US" sz="2000" b="1" dirty="0"/>
              <a:t>Intuition -</a:t>
            </a:r>
            <a:r>
              <a:rPr lang="en-US" sz="2000" dirty="0"/>
              <a:t> </a:t>
            </a:r>
            <a:r>
              <a:rPr lang="en-US" sz="2000" i="1" dirty="0"/>
              <a:t>We limit how much the output can change if we change the data of a single individual in the database</a:t>
            </a:r>
            <a:r>
              <a:rPr lang="en-US" sz="2000" dirty="0"/>
              <a:t>.</a:t>
            </a:r>
            <a:r>
              <a:rPr lang="en-US" sz="1800" dirty="0"/>
              <a:t/>
            </a:r>
            <a:br>
              <a:rPr lang="en-US" sz="1800" dirty="0"/>
            </a:br>
            <a:endParaRPr sz="1800" dirty="0"/>
          </a:p>
          <a:p>
            <a:pPr marL="228600" lvl="0" indent="-114300" algn="l" rtl="0">
              <a:lnSpc>
                <a:spcPct val="90000"/>
              </a:lnSpc>
              <a:spcBef>
                <a:spcPts val="1000"/>
              </a:spcBef>
              <a:spcAft>
                <a:spcPts val="0"/>
              </a:spcAft>
              <a:buClr>
                <a:schemeClr val="dk1"/>
              </a:buClr>
              <a:buSzPts val="1800"/>
              <a:buNone/>
            </a:pPr>
            <a:endParaRPr sz="1800" dirty="0"/>
          </a:p>
        </p:txBody>
      </p:sp>
      <p:sp>
        <p:nvSpPr>
          <p:cNvPr id="145" name="Google Shape;14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grpSp>
        <p:nvGrpSpPr>
          <p:cNvPr id="146" name="Google Shape;146;p17"/>
          <p:cNvGrpSpPr/>
          <p:nvPr/>
        </p:nvGrpSpPr>
        <p:grpSpPr>
          <a:xfrm>
            <a:off x="2908042" y="4417764"/>
            <a:ext cx="6353881" cy="2085068"/>
            <a:chOff x="107925" y="1025451"/>
            <a:chExt cx="9414552" cy="4785734"/>
          </a:xfrm>
        </p:grpSpPr>
        <p:pic>
          <p:nvPicPr>
            <p:cNvPr id="147" name="Google Shape;147;p17" descr="Cylinder"/>
            <p:cNvPicPr preferRelativeResize="0"/>
            <p:nvPr/>
          </p:nvPicPr>
          <p:blipFill rotWithShape="1">
            <a:blip r:embed="rId3">
              <a:alphaModFix/>
            </a:blip>
            <a:srcRect/>
            <a:stretch/>
          </p:blipFill>
          <p:spPr>
            <a:xfrm>
              <a:off x="1609800" y="1172812"/>
              <a:ext cx="963212" cy="923120"/>
            </a:xfrm>
            <a:prstGeom prst="rect">
              <a:avLst/>
            </a:prstGeom>
            <a:noFill/>
            <a:ln>
              <a:noFill/>
            </a:ln>
          </p:spPr>
        </p:pic>
        <p:pic>
          <p:nvPicPr>
            <p:cNvPr id="148" name="Google Shape;148;p17" descr="Cylinder"/>
            <p:cNvPicPr preferRelativeResize="0"/>
            <p:nvPr/>
          </p:nvPicPr>
          <p:blipFill rotWithShape="1">
            <a:blip r:embed="rId4">
              <a:alphaModFix/>
            </a:blip>
            <a:srcRect/>
            <a:stretch/>
          </p:blipFill>
          <p:spPr>
            <a:xfrm>
              <a:off x="1591508" y="4624385"/>
              <a:ext cx="963213" cy="923121"/>
            </a:xfrm>
            <a:prstGeom prst="rect">
              <a:avLst/>
            </a:prstGeom>
            <a:noFill/>
            <a:ln>
              <a:noFill/>
            </a:ln>
          </p:spPr>
        </p:pic>
        <p:sp>
          <p:nvSpPr>
            <p:cNvPr id="149" name="Google Shape;149;p17"/>
            <p:cNvSpPr/>
            <p:nvPr/>
          </p:nvSpPr>
          <p:spPr>
            <a:xfrm>
              <a:off x="8159549" y="1774181"/>
              <a:ext cx="1224000" cy="1224000"/>
            </a:xfrm>
            <a:prstGeom prst="ellipse">
              <a:avLst/>
            </a:prstGeom>
            <a:solidFill>
              <a:srgbClr val="0070C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Calibri"/>
                <a:ea typeface="Calibri"/>
                <a:cs typeface="Calibri"/>
                <a:sym typeface="Calibri"/>
              </a:endParaRPr>
            </a:p>
          </p:txBody>
        </p:sp>
        <p:sp>
          <p:nvSpPr>
            <p:cNvPr id="150" name="Google Shape;150;p17"/>
            <p:cNvSpPr/>
            <p:nvPr/>
          </p:nvSpPr>
          <p:spPr>
            <a:xfrm>
              <a:off x="8231549" y="1846181"/>
              <a:ext cx="1080000" cy="1080000"/>
            </a:xfrm>
            <a:prstGeom prst="ellipse">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Calibri"/>
                <a:ea typeface="Calibri"/>
                <a:cs typeface="Calibri"/>
                <a:sym typeface="Calibri"/>
              </a:endParaRPr>
            </a:p>
          </p:txBody>
        </p:sp>
        <p:sp>
          <p:nvSpPr>
            <p:cNvPr id="151" name="Google Shape;151;p17"/>
            <p:cNvSpPr/>
            <p:nvPr/>
          </p:nvSpPr>
          <p:spPr>
            <a:xfrm>
              <a:off x="8255140" y="3519292"/>
              <a:ext cx="1224000" cy="1224000"/>
            </a:xfrm>
            <a:prstGeom prst="ellipse">
              <a:avLst/>
            </a:prstGeom>
            <a:solidFill>
              <a:srgbClr val="0070C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Calibri"/>
                <a:ea typeface="Calibri"/>
                <a:cs typeface="Calibri"/>
                <a:sym typeface="Calibri"/>
              </a:endParaRPr>
            </a:p>
          </p:txBody>
        </p:sp>
        <p:sp>
          <p:nvSpPr>
            <p:cNvPr id="152" name="Google Shape;152;p17"/>
            <p:cNvSpPr/>
            <p:nvPr/>
          </p:nvSpPr>
          <p:spPr>
            <a:xfrm>
              <a:off x="8327140" y="3591292"/>
              <a:ext cx="1080000" cy="1080000"/>
            </a:xfrm>
            <a:prstGeom prst="ellipse">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Calibri"/>
                <a:ea typeface="Calibri"/>
                <a:cs typeface="Calibri"/>
                <a:sym typeface="Calibri"/>
              </a:endParaRPr>
            </a:p>
          </p:txBody>
        </p:sp>
        <p:cxnSp>
          <p:nvCxnSpPr>
            <p:cNvPr id="153" name="Google Shape;153;p17"/>
            <p:cNvCxnSpPr/>
            <p:nvPr/>
          </p:nvCxnSpPr>
          <p:spPr>
            <a:xfrm>
              <a:off x="2504819" y="1589515"/>
              <a:ext cx="1728000" cy="0"/>
            </a:xfrm>
            <a:prstGeom prst="straightConnector1">
              <a:avLst/>
            </a:prstGeom>
            <a:noFill/>
            <a:ln w="28575" cap="sq" cmpd="sng">
              <a:solidFill>
                <a:schemeClr val="dk1"/>
              </a:solidFill>
              <a:prstDash val="dashDot"/>
              <a:bevel/>
              <a:headEnd type="none" w="sm" len="sm"/>
              <a:tailEnd type="none" w="sm" len="sm"/>
            </a:ln>
          </p:spPr>
        </p:cxnSp>
        <p:cxnSp>
          <p:nvCxnSpPr>
            <p:cNvPr id="154" name="Google Shape;154;p17"/>
            <p:cNvCxnSpPr/>
            <p:nvPr/>
          </p:nvCxnSpPr>
          <p:spPr>
            <a:xfrm>
              <a:off x="2565765" y="5204962"/>
              <a:ext cx="1656000" cy="0"/>
            </a:xfrm>
            <a:prstGeom prst="straightConnector1">
              <a:avLst/>
            </a:prstGeom>
            <a:noFill/>
            <a:ln w="28575" cap="sq" cmpd="sng">
              <a:solidFill>
                <a:schemeClr val="dk1"/>
              </a:solidFill>
              <a:prstDash val="dashDot"/>
              <a:bevel/>
              <a:headEnd type="none" w="sm" len="sm"/>
              <a:tailEnd type="none" w="sm" len="sm"/>
            </a:ln>
          </p:spPr>
        </p:cxnSp>
        <p:cxnSp>
          <p:nvCxnSpPr>
            <p:cNvPr id="155" name="Google Shape;155;p17"/>
            <p:cNvCxnSpPr/>
            <p:nvPr/>
          </p:nvCxnSpPr>
          <p:spPr>
            <a:xfrm rot="10800000">
              <a:off x="4232819" y="1589515"/>
              <a:ext cx="0" cy="3615447"/>
            </a:xfrm>
            <a:prstGeom prst="straightConnector1">
              <a:avLst/>
            </a:prstGeom>
            <a:noFill/>
            <a:ln w="28575" cap="sq" cmpd="sng">
              <a:solidFill>
                <a:schemeClr val="dk1"/>
              </a:solidFill>
              <a:prstDash val="dashDot"/>
              <a:bevel/>
              <a:headEnd type="none" w="sm" len="sm"/>
              <a:tailEnd type="none" w="sm" len="sm"/>
            </a:ln>
          </p:spPr>
        </p:cxnSp>
        <p:cxnSp>
          <p:nvCxnSpPr>
            <p:cNvPr id="156" name="Google Shape;156;p17"/>
            <p:cNvCxnSpPr/>
            <p:nvPr/>
          </p:nvCxnSpPr>
          <p:spPr>
            <a:xfrm>
              <a:off x="4221765" y="3262626"/>
              <a:ext cx="792000" cy="0"/>
            </a:xfrm>
            <a:prstGeom prst="straightConnector1">
              <a:avLst/>
            </a:prstGeom>
            <a:noFill/>
            <a:ln w="28575" cap="sq" cmpd="sng">
              <a:solidFill>
                <a:schemeClr val="dk1"/>
              </a:solidFill>
              <a:prstDash val="dashDot"/>
              <a:bevel/>
              <a:headEnd type="none" w="sm" len="sm"/>
              <a:tailEnd type="triangle" w="med" len="med"/>
            </a:ln>
          </p:spPr>
        </p:cxnSp>
        <p:cxnSp>
          <p:nvCxnSpPr>
            <p:cNvPr id="157" name="Google Shape;157;p17"/>
            <p:cNvCxnSpPr/>
            <p:nvPr/>
          </p:nvCxnSpPr>
          <p:spPr>
            <a:xfrm>
              <a:off x="7280778" y="2385957"/>
              <a:ext cx="792000" cy="0"/>
            </a:xfrm>
            <a:prstGeom prst="straightConnector1">
              <a:avLst/>
            </a:prstGeom>
            <a:noFill/>
            <a:ln w="28575" cap="sq" cmpd="sng">
              <a:solidFill>
                <a:schemeClr val="dk1"/>
              </a:solidFill>
              <a:prstDash val="dashDot"/>
              <a:bevel/>
              <a:headEnd type="none" w="sm" len="sm"/>
              <a:tailEnd type="triangle" w="med" len="med"/>
            </a:ln>
          </p:spPr>
        </p:cxnSp>
        <p:cxnSp>
          <p:nvCxnSpPr>
            <p:cNvPr id="158" name="Google Shape;158;p17"/>
            <p:cNvCxnSpPr/>
            <p:nvPr/>
          </p:nvCxnSpPr>
          <p:spPr>
            <a:xfrm>
              <a:off x="7367549" y="4190275"/>
              <a:ext cx="792000" cy="0"/>
            </a:xfrm>
            <a:prstGeom prst="straightConnector1">
              <a:avLst/>
            </a:prstGeom>
            <a:noFill/>
            <a:ln w="28575" cap="sq" cmpd="sng">
              <a:solidFill>
                <a:schemeClr val="dk1"/>
              </a:solidFill>
              <a:prstDash val="dashDot"/>
              <a:bevel/>
              <a:headEnd type="none" w="sm" len="sm"/>
              <a:tailEnd type="triangle" w="med" len="med"/>
            </a:ln>
          </p:spPr>
        </p:cxnSp>
        <p:sp>
          <p:nvSpPr>
            <p:cNvPr id="159" name="Google Shape;159;p17"/>
            <p:cNvSpPr txBox="1"/>
            <p:nvPr/>
          </p:nvSpPr>
          <p:spPr>
            <a:xfrm>
              <a:off x="2709111" y="1025451"/>
              <a:ext cx="1227755" cy="5640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Sum(D)</a:t>
              </a:r>
              <a:endParaRPr/>
            </a:p>
          </p:txBody>
        </p:sp>
        <p:sp>
          <p:nvSpPr>
            <p:cNvPr id="160" name="Google Shape;160;p17"/>
            <p:cNvSpPr txBox="1"/>
            <p:nvPr/>
          </p:nvSpPr>
          <p:spPr>
            <a:xfrm>
              <a:off x="107925" y="4481617"/>
              <a:ext cx="1501800" cy="120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Neighbour</a:t>
              </a:r>
              <a:endParaRPr sz="800">
                <a:solidFill>
                  <a:srgbClr val="0C0C0C"/>
                </a:solidFill>
                <a:latin typeface="Calibri"/>
                <a:ea typeface="Calibri"/>
                <a:cs typeface="Calibri"/>
                <a:sym typeface="Calibri"/>
              </a:endParaRPr>
            </a:p>
            <a:p>
              <a:pPr marL="0" marR="0" lvl="0" indent="0" algn="ctr" rtl="0">
                <a:spcBef>
                  <a:spcPts val="0"/>
                </a:spcBef>
                <a:spcAft>
                  <a:spcPts val="0"/>
                </a:spcAft>
                <a:buNone/>
              </a:pPr>
              <a:r>
                <a:rPr lang="en-US" sz="800">
                  <a:solidFill>
                    <a:srgbClr val="0C0C0C"/>
                  </a:solidFill>
                  <a:latin typeface="Calibri"/>
                  <a:ea typeface="Calibri"/>
                  <a:cs typeface="Calibri"/>
                  <a:sym typeface="Calibri"/>
                </a:rPr>
                <a:t>Dataset</a:t>
              </a:r>
              <a:endParaRPr/>
            </a:p>
            <a:p>
              <a:pPr marL="0" marR="0" lvl="0" indent="0" algn="ctr" rtl="0">
                <a:spcBef>
                  <a:spcPts val="0"/>
                </a:spcBef>
                <a:spcAft>
                  <a:spcPts val="0"/>
                </a:spcAft>
                <a:buNone/>
              </a:pPr>
              <a:r>
                <a:rPr lang="en-US" sz="800">
                  <a:solidFill>
                    <a:srgbClr val="0C0C0C"/>
                  </a:solidFill>
                  <a:latin typeface="Calibri"/>
                  <a:ea typeface="Calibri"/>
                  <a:cs typeface="Calibri"/>
                  <a:sym typeface="Calibri"/>
                </a:rPr>
                <a:t> (N-1 entries)</a:t>
              </a:r>
              <a:endParaRPr sz="800">
                <a:solidFill>
                  <a:srgbClr val="0C0C0C"/>
                </a:solidFill>
                <a:latin typeface="Calibri"/>
                <a:ea typeface="Calibri"/>
                <a:cs typeface="Calibri"/>
                <a:sym typeface="Calibri"/>
              </a:endParaRPr>
            </a:p>
          </p:txBody>
        </p:sp>
        <p:sp>
          <p:nvSpPr>
            <p:cNvPr id="161" name="Google Shape;161;p17"/>
            <p:cNvSpPr txBox="1"/>
            <p:nvPr/>
          </p:nvSpPr>
          <p:spPr>
            <a:xfrm>
              <a:off x="168212" y="1191127"/>
              <a:ext cx="1227900" cy="88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Dataset</a:t>
              </a:r>
              <a:endParaRPr/>
            </a:p>
            <a:p>
              <a:pPr marL="0" marR="0" lvl="0" indent="0" algn="ctr" rtl="0">
                <a:spcBef>
                  <a:spcPts val="0"/>
                </a:spcBef>
                <a:spcAft>
                  <a:spcPts val="0"/>
                </a:spcAft>
                <a:buNone/>
              </a:pPr>
              <a:r>
                <a:rPr lang="en-US" sz="800">
                  <a:solidFill>
                    <a:srgbClr val="0C0C0C"/>
                  </a:solidFill>
                  <a:latin typeface="Calibri"/>
                  <a:ea typeface="Calibri"/>
                  <a:cs typeface="Calibri"/>
                  <a:sym typeface="Calibri"/>
                </a:rPr>
                <a:t> (N entries)</a:t>
              </a:r>
              <a:endParaRPr sz="800">
                <a:solidFill>
                  <a:srgbClr val="0C0C0C"/>
                </a:solidFill>
                <a:latin typeface="Calibri"/>
                <a:ea typeface="Calibri"/>
                <a:cs typeface="Calibri"/>
                <a:sym typeface="Calibri"/>
              </a:endParaRPr>
            </a:p>
          </p:txBody>
        </p:sp>
        <p:sp>
          <p:nvSpPr>
            <p:cNvPr id="162" name="Google Shape;162;p17"/>
            <p:cNvSpPr txBox="1"/>
            <p:nvPr/>
          </p:nvSpPr>
          <p:spPr>
            <a:xfrm>
              <a:off x="860493" y="4803881"/>
              <a:ext cx="1227900" cy="56400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
          <p:nvSpPr>
            <p:cNvPr id="163" name="Google Shape;163;p17"/>
            <p:cNvSpPr txBox="1"/>
            <p:nvPr/>
          </p:nvSpPr>
          <p:spPr>
            <a:xfrm>
              <a:off x="860504" y="1307522"/>
              <a:ext cx="1227900" cy="564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D</a:t>
              </a:r>
              <a:endParaRPr/>
            </a:p>
          </p:txBody>
        </p:sp>
        <p:sp>
          <p:nvSpPr>
            <p:cNvPr id="164" name="Google Shape;164;p17"/>
            <p:cNvSpPr txBox="1"/>
            <p:nvPr/>
          </p:nvSpPr>
          <p:spPr>
            <a:xfrm>
              <a:off x="2709111" y="5247121"/>
              <a:ext cx="1227755" cy="5640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Sum(D</a:t>
              </a:r>
              <a:r>
                <a:rPr lang="en-US" sz="800" baseline="30000">
                  <a:solidFill>
                    <a:srgbClr val="0C0C0C"/>
                  </a:solidFill>
                  <a:latin typeface="Calibri"/>
                  <a:ea typeface="Calibri"/>
                  <a:cs typeface="Calibri"/>
                  <a:sym typeface="Calibri"/>
                </a:rPr>
                <a:t>1</a:t>
              </a:r>
              <a:r>
                <a:rPr lang="en-US" sz="800">
                  <a:solidFill>
                    <a:srgbClr val="0C0C0C"/>
                  </a:solidFill>
                  <a:latin typeface="Calibri"/>
                  <a:ea typeface="Calibri"/>
                  <a:cs typeface="Calibri"/>
                  <a:sym typeface="Calibri"/>
                </a:rPr>
                <a:t>)</a:t>
              </a:r>
              <a:endParaRPr sz="800" baseline="30000">
                <a:solidFill>
                  <a:srgbClr val="0C0C0C"/>
                </a:solidFill>
                <a:latin typeface="Calibri"/>
                <a:ea typeface="Calibri"/>
                <a:cs typeface="Calibri"/>
                <a:sym typeface="Calibri"/>
              </a:endParaRPr>
            </a:p>
          </p:txBody>
        </p:sp>
        <p:sp>
          <p:nvSpPr>
            <p:cNvPr id="165" name="Google Shape;165;p17"/>
            <p:cNvSpPr txBox="1"/>
            <p:nvPr/>
          </p:nvSpPr>
          <p:spPr>
            <a:xfrm>
              <a:off x="5040904" y="2250508"/>
              <a:ext cx="2035276" cy="5640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a:solidFill>
                    <a:schemeClr val="dk1"/>
                  </a:solidFill>
                  <a:latin typeface="Calibri"/>
                  <a:ea typeface="Calibri"/>
                  <a:cs typeface="Calibri"/>
                  <a:sym typeface="Calibri"/>
                </a:rPr>
                <a:t>IF SUM(D)=SUM(</a:t>
              </a:r>
              <a:r>
                <a:rPr lang="en-US" sz="800">
                  <a:solidFill>
                    <a:srgbClr val="0C0C0C"/>
                  </a:solidFill>
                  <a:latin typeface="Calibri"/>
                  <a:ea typeface="Calibri"/>
                  <a:cs typeface="Calibri"/>
                  <a:sym typeface="Calibri"/>
                </a:rPr>
                <a:t>D</a:t>
              </a:r>
              <a:r>
                <a:rPr lang="en-US" sz="800" baseline="30000">
                  <a:solidFill>
                    <a:srgbClr val="0C0C0C"/>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sp>
          <p:nvSpPr>
            <p:cNvPr id="166" name="Google Shape;166;p17"/>
            <p:cNvSpPr txBox="1"/>
            <p:nvPr/>
          </p:nvSpPr>
          <p:spPr>
            <a:xfrm>
              <a:off x="4989269" y="4005609"/>
              <a:ext cx="2599037" cy="5640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a:solidFill>
                    <a:schemeClr val="dk1"/>
                  </a:solidFill>
                  <a:latin typeface="Calibri"/>
                  <a:ea typeface="Calibri"/>
                  <a:cs typeface="Calibri"/>
                  <a:sym typeface="Calibri"/>
                </a:rPr>
                <a:t>ElSE SUM(D)!=SUM(</a:t>
              </a:r>
              <a:r>
                <a:rPr lang="en-US" sz="800">
                  <a:solidFill>
                    <a:srgbClr val="0C0C0C"/>
                  </a:solidFill>
                  <a:latin typeface="Calibri"/>
                  <a:ea typeface="Calibri"/>
                  <a:cs typeface="Calibri"/>
                  <a:sym typeface="Calibri"/>
                </a:rPr>
                <a:t>D</a:t>
              </a:r>
              <a:r>
                <a:rPr lang="en-US" sz="800" baseline="30000">
                  <a:solidFill>
                    <a:srgbClr val="0C0C0C"/>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pic>
          <p:nvPicPr>
            <p:cNvPr id="167" name="Google Shape;167;p17" descr="Heart lock with solid fill"/>
            <p:cNvPicPr preferRelativeResize="0"/>
            <p:nvPr/>
          </p:nvPicPr>
          <p:blipFill rotWithShape="1">
            <a:blip r:embed="rId6">
              <a:alphaModFix/>
            </a:blip>
            <a:srcRect/>
            <a:stretch/>
          </p:blipFill>
          <p:spPr>
            <a:xfrm>
              <a:off x="8412625" y="3674092"/>
              <a:ext cx="914400" cy="914400"/>
            </a:xfrm>
            <a:prstGeom prst="rect">
              <a:avLst/>
            </a:prstGeom>
            <a:noFill/>
            <a:ln>
              <a:noFill/>
            </a:ln>
          </p:spPr>
        </p:pic>
        <p:pic>
          <p:nvPicPr>
            <p:cNvPr id="168" name="Google Shape;168;p17" descr="Lock outline"/>
            <p:cNvPicPr preferRelativeResize="0"/>
            <p:nvPr/>
          </p:nvPicPr>
          <p:blipFill rotWithShape="1">
            <a:blip r:embed="rId7">
              <a:alphaModFix/>
            </a:blip>
            <a:srcRect/>
            <a:stretch/>
          </p:blipFill>
          <p:spPr>
            <a:xfrm>
              <a:off x="8327140" y="1846181"/>
              <a:ext cx="914400" cy="914400"/>
            </a:xfrm>
            <a:prstGeom prst="rect">
              <a:avLst/>
            </a:prstGeom>
            <a:noFill/>
            <a:ln>
              <a:noFill/>
            </a:ln>
          </p:spPr>
        </p:pic>
        <p:sp>
          <p:nvSpPr>
            <p:cNvPr id="169" name="Google Shape;169;p17"/>
            <p:cNvSpPr txBox="1"/>
            <p:nvPr/>
          </p:nvSpPr>
          <p:spPr>
            <a:xfrm>
              <a:off x="8242564" y="2983374"/>
              <a:ext cx="1227755" cy="5640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Protected</a:t>
              </a:r>
              <a:endParaRPr/>
            </a:p>
          </p:txBody>
        </p:sp>
        <p:sp>
          <p:nvSpPr>
            <p:cNvPr id="170" name="Google Shape;170;p17"/>
            <p:cNvSpPr txBox="1"/>
            <p:nvPr/>
          </p:nvSpPr>
          <p:spPr>
            <a:xfrm>
              <a:off x="8020620" y="4803913"/>
              <a:ext cx="1501857" cy="5640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00">
                  <a:solidFill>
                    <a:srgbClr val="0C0C0C"/>
                  </a:solidFill>
                  <a:latin typeface="Calibri"/>
                  <a:ea typeface="Calibri"/>
                  <a:cs typeface="Calibri"/>
                  <a:sym typeface="Calibri"/>
                </a:rPr>
                <a:t>Unprotected</a:t>
              </a:r>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 Introduction.</a:t>
            </a:r>
            <a:endParaRPr lang="en-US" dirty="0"/>
          </a:p>
        </p:txBody>
      </p:sp>
      <p:sp>
        <p:nvSpPr>
          <p:cNvPr id="6" name="Text Placeholder 5"/>
          <p:cNvSpPr>
            <a:spLocks noGrp="1"/>
          </p:cNvSpPr>
          <p:nvPr>
            <p:ph type="body" idx="1"/>
          </p:nvPr>
        </p:nvSpPr>
        <p:spPr/>
        <p:txBody>
          <a:bodyPr/>
          <a:lstStyle/>
          <a:p>
            <a:pPr marL="228600" lvl="0" indent="-228600">
              <a:spcBef>
                <a:spcPts val="0"/>
              </a:spcBef>
            </a:pPr>
            <a:r>
              <a:rPr lang="en-US" dirty="0" smtClean="0"/>
              <a:t>In order to avoid  data leaks, we add a controlled amount of statistical noise to obscure the data contributions from individuals in the data set.</a:t>
            </a:r>
          </a:p>
          <a:p>
            <a:pPr marL="228600" lvl="0" indent="-228600"/>
            <a:r>
              <a:rPr lang="en-US" dirty="0" smtClean="0"/>
              <a:t>By the </a:t>
            </a:r>
            <a:r>
              <a:rPr lang="en-US" b="1" dirty="0" smtClean="0"/>
              <a:t>Law of Large Numbers</a:t>
            </a:r>
            <a:r>
              <a:rPr lang="en-US" dirty="0" smtClean="0"/>
              <a:t> in probability and statistics, it is seen that when the average of these statistically collected data is taken, the noise cancels out and the</a:t>
            </a:r>
            <a:r>
              <a:rPr lang="en-US" b="1" dirty="0" smtClean="0"/>
              <a:t> average obtained</a:t>
            </a:r>
            <a:r>
              <a:rPr lang="en-US" dirty="0" smtClean="0"/>
              <a:t> is </a:t>
            </a:r>
            <a:r>
              <a:rPr lang="en-US" b="1" dirty="0" smtClean="0"/>
              <a:t>near</a:t>
            </a:r>
            <a:r>
              <a:rPr lang="en-US" dirty="0" smtClean="0"/>
              <a:t> to the </a:t>
            </a:r>
            <a:r>
              <a:rPr lang="en-US" b="1" dirty="0" smtClean="0"/>
              <a:t>true average</a:t>
            </a:r>
            <a:r>
              <a:rPr lang="en-US" dirty="0" smtClean="0"/>
              <a:t> (average of the data without adding noise (random number)) .</a:t>
            </a:r>
          </a:p>
          <a:p>
            <a:pPr marL="228600" lvl="0" indent="-228600"/>
            <a:r>
              <a:rPr lang="en-US" dirty="0" smtClean="0"/>
              <a:t> </a:t>
            </a:r>
            <a:r>
              <a:rPr lang="en-US" b="1" dirty="0" smtClean="0"/>
              <a:t>Differential privacy is </a:t>
            </a:r>
            <a:r>
              <a:rPr lang="en-US" b="1" i="1" dirty="0" smtClean="0"/>
              <a:t>not</a:t>
            </a:r>
            <a:r>
              <a:rPr lang="en-US" b="1" dirty="0" smtClean="0"/>
              <a:t> a property of databases, but a property of queries.</a:t>
            </a:r>
            <a:endParaRPr lang="en-US" dirty="0" smtClean="0"/>
          </a:p>
          <a:p>
            <a:pPr marL="228600" lvl="0" indent="-228600"/>
            <a:r>
              <a:rPr lang="en-US" dirty="0" smtClean="0"/>
              <a:t>I</a:t>
            </a:r>
            <a:r>
              <a:rPr lang="en-US" i="1" dirty="0" smtClean="0"/>
              <a:t>t helps provide the </a:t>
            </a:r>
            <a:r>
              <a:rPr lang="en-US" b="1" i="1" dirty="0" smtClean="0"/>
              <a:t>OUTPUT Privacy </a:t>
            </a:r>
            <a:r>
              <a:rPr lang="en-US" i="1" dirty="0" smtClean="0"/>
              <a:t>i.e., how much insight can someone gain on the input by reverse engineering from the output.</a:t>
            </a:r>
            <a:endParaRPr lang="en-US" dirty="0" smtClean="0"/>
          </a:p>
          <a:p>
            <a:pPr marL="228600" lvl="0" indent="-228600"/>
            <a:r>
              <a:rPr lang="en-US" dirty="0" smtClean="0"/>
              <a:t>The use of differential privacy is </a:t>
            </a:r>
            <a:r>
              <a:rPr lang="en-US" b="1" dirty="0" smtClean="0"/>
              <a:t>a careful tradeoff between privacy preservation and  model utility/accuracy</a:t>
            </a:r>
            <a:r>
              <a:rPr lang="en-US" dirty="0" smtClean="0"/>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8"/>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3200"/>
            </a:pPr>
            <a:r>
              <a:rPr lang="en-US" sz="3200" dirty="0" smtClean="0">
                <a:solidFill>
                  <a:srgbClr val="FF0000"/>
                </a:solidFill>
              </a:rPr>
              <a:t>Enhancing Privacy in Text Data: A Metric-Differential Privacy Approach. </a:t>
            </a:r>
            <a:r>
              <a:rPr lang="en-US" sz="3200" b="1" dirty="0">
                <a:solidFill>
                  <a:srgbClr val="FF0000"/>
                </a:solidFill>
              </a:rPr>
              <a:t/>
            </a:r>
            <a:br>
              <a:rPr lang="en-US" sz="3200" b="1" dirty="0">
                <a:solidFill>
                  <a:srgbClr val="FF0000"/>
                </a:solidFill>
              </a:rPr>
            </a:br>
            <a:r>
              <a:rPr lang="en-US" sz="3200" dirty="0"/>
              <a:t>Terminology</a:t>
            </a:r>
            <a:endParaRPr sz="3200" dirty="0"/>
          </a:p>
        </p:txBody>
      </p:sp>
      <p:sp>
        <p:nvSpPr>
          <p:cNvPr id="176" name="Google Shape;176;p18"/>
          <p:cNvSpPr txBox="1">
            <a:spLocks noGrp="1"/>
          </p:cNvSpPr>
          <p:nvPr>
            <p:ph type="body" idx="1"/>
          </p:nvPr>
        </p:nvSpPr>
        <p:spPr>
          <a:xfrm>
            <a:off x="838200" y="1600200"/>
            <a:ext cx="10515600" cy="508437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1" dirty="0"/>
              <a:t>Epsilon ε</a:t>
            </a:r>
            <a:r>
              <a:rPr lang="en-US" sz="1800" dirty="0"/>
              <a:t>:Epsilon is a parameter in a differentially private algorithm that quantifies the level of privacy </a:t>
            </a:r>
            <a:r>
              <a:rPr lang="en-US" sz="1800" dirty="0" smtClean="0"/>
              <a:t>protection. It </a:t>
            </a:r>
            <a:r>
              <a:rPr lang="en-US" sz="1800" dirty="0"/>
              <a:t>is a measure of the maximum allowable influence of an individual’s data on the analysis’s outcome.</a:t>
            </a:r>
            <a:endParaRPr dirty="0"/>
          </a:p>
          <a:p>
            <a:pPr marL="228600" lvl="0" indent="-228600" algn="l" rtl="0">
              <a:lnSpc>
                <a:spcPct val="90000"/>
              </a:lnSpc>
              <a:spcBef>
                <a:spcPts val="1000"/>
              </a:spcBef>
              <a:spcAft>
                <a:spcPts val="0"/>
              </a:spcAft>
              <a:buClr>
                <a:schemeClr val="dk1"/>
              </a:buClr>
              <a:buSzPts val="1800"/>
              <a:buChar char="•"/>
            </a:pPr>
            <a:r>
              <a:rPr lang="en-US" sz="1800" b="1" dirty="0"/>
              <a:t>Privacy Leakage: </a:t>
            </a:r>
            <a:r>
              <a:rPr lang="en-US" sz="1800" dirty="0"/>
              <a:t>The amount of information about an individual that can be inferred from the output </a:t>
            </a:r>
            <a:r>
              <a:rPr lang="en-US" sz="1800" dirty="0" smtClean="0"/>
              <a:t>of a query in a database using </a:t>
            </a:r>
            <a:r>
              <a:rPr lang="en-US" sz="1800" dirty="0"/>
              <a:t>differentially private algorithm is referred to as privacy leakage.</a:t>
            </a:r>
            <a:endParaRPr dirty="0"/>
          </a:p>
          <a:p>
            <a:pPr marL="228600" lvl="0" indent="-228600" algn="l" rtl="0">
              <a:lnSpc>
                <a:spcPct val="90000"/>
              </a:lnSpc>
              <a:spcBef>
                <a:spcPts val="1000"/>
              </a:spcBef>
              <a:spcAft>
                <a:spcPts val="0"/>
              </a:spcAft>
              <a:buClr>
                <a:schemeClr val="dk1"/>
              </a:buClr>
              <a:buSzPts val="1800"/>
              <a:buChar char="•"/>
            </a:pPr>
            <a:r>
              <a:rPr lang="en-US" sz="1800" b="1" dirty="0"/>
              <a:t>Privacy Budget :</a:t>
            </a:r>
            <a:r>
              <a:rPr lang="en-US" sz="1800" dirty="0"/>
              <a:t>The privacy budget represents the total amount of privacy that can be </a:t>
            </a:r>
            <a:r>
              <a:rPr lang="en-US" sz="1800" dirty="0" smtClean="0"/>
              <a:t>consumed </a:t>
            </a:r>
            <a:r>
              <a:rPr lang="en-US" sz="1800" dirty="0"/>
              <a:t>across these analyses while still ensuring overall privacy. </a:t>
            </a:r>
            <a:endParaRPr dirty="0"/>
          </a:p>
          <a:p>
            <a:pPr marL="228600" lvl="0" indent="-228600" algn="l" rtl="0">
              <a:lnSpc>
                <a:spcPct val="90000"/>
              </a:lnSpc>
              <a:spcBef>
                <a:spcPts val="1000"/>
              </a:spcBef>
              <a:spcAft>
                <a:spcPts val="0"/>
              </a:spcAft>
              <a:buClr>
                <a:schemeClr val="dk1"/>
              </a:buClr>
              <a:buSzPts val="1800"/>
              <a:buNone/>
            </a:pPr>
            <a:r>
              <a:rPr lang="en-US" sz="1800" b="1" dirty="0"/>
              <a:t>    Example :- </a:t>
            </a:r>
            <a:r>
              <a:rPr lang="en-US" sz="1800" dirty="0"/>
              <a:t>If you have a privacy budget of 1 and use epsilon values of 0.1 for two different analyses, the total privacy cost is 0.2, leaving 0.8 for future analyses.</a:t>
            </a:r>
            <a:endParaRPr dirty="0"/>
          </a:p>
          <a:p>
            <a:pPr marL="228600" lvl="0" indent="-228600" algn="l" rtl="0">
              <a:lnSpc>
                <a:spcPct val="90000"/>
              </a:lnSpc>
              <a:spcBef>
                <a:spcPts val="1000"/>
              </a:spcBef>
              <a:spcAft>
                <a:spcPts val="0"/>
              </a:spcAft>
              <a:buClr>
                <a:schemeClr val="dk1"/>
              </a:buClr>
              <a:buSzPts val="1800"/>
              <a:buChar char="•"/>
            </a:pPr>
            <a:r>
              <a:rPr lang="en-US" sz="1800" b="1" dirty="0"/>
              <a:t>Adjacent </a:t>
            </a:r>
            <a:r>
              <a:rPr lang="en-US" sz="1800" b="1" dirty="0" smtClean="0"/>
              <a:t>Datasets: </a:t>
            </a:r>
            <a:r>
              <a:rPr lang="en-US" sz="1800" dirty="0" smtClean="0"/>
              <a:t>Two </a:t>
            </a:r>
            <a:r>
              <a:rPr lang="en-US" sz="1800" dirty="0"/>
              <a:t>datasets </a:t>
            </a:r>
            <a:r>
              <a:rPr lang="en-US" sz="1800" dirty="0" smtClean="0"/>
              <a:t> are </a:t>
            </a:r>
            <a:r>
              <a:rPr lang="en-US" sz="1800" dirty="0"/>
              <a:t>considered adjacent if one can be obtained from the other by adding, removing, or modifying a single individual’s </a:t>
            </a:r>
            <a:r>
              <a:rPr lang="en-US" sz="1800" dirty="0" smtClean="0"/>
              <a:t>data.</a:t>
            </a:r>
          </a:p>
          <a:p>
            <a:pPr marL="228600" indent="-228600"/>
            <a:r>
              <a:rPr lang="en-US" sz="1800" b="1" dirty="0" smtClean="0">
                <a:solidFill>
                  <a:srgbClr val="0D0D0D"/>
                </a:solidFill>
                <a:latin typeface="Candara" pitchFamily="34" charset="0"/>
              </a:rPr>
              <a:t>Plausible deniability: </a:t>
            </a:r>
            <a:r>
              <a:rPr lang="en-US" sz="1800" dirty="0" smtClean="0">
                <a:solidFill>
                  <a:srgbClr val="0D0D0D"/>
                </a:solidFill>
                <a:latin typeface="Candara" pitchFamily="34" charset="0"/>
              </a:rPr>
              <a:t>It</a:t>
            </a:r>
            <a:r>
              <a:rPr lang="en-US" sz="1800" b="1" dirty="0" smtClean="0">
                <a:solidFill>
                  <a:srgbClr val="0D0D0D"/>
                </a:solidFill>
                <a:latin typeface="Candara" pitchFamily="34" charset="0"/>
              </a:rPr>
              <a:t> </a:t>
            </a:r>
            <a:r>
              <a:rPr lang="en-US" sz="1800" dirty="0" smtClean="0">
                <a:solidFill>
                  <a:srgbClr val="0D0D0D"/>
                </a:solidFill>
                <a:latin typeface="Candara" pitchFamily="34" charset="0"/>
              </a:rPr>
              <a:t>refers to the ability to deny with credibility that a specific individual’s data was included in the dataset used for analysis.</a:t>
            </a:r>
            <a:endParaRPr sz="1800" dirty="0">
              <a:latin typeface="Candara" pitchFamily="34" charset="0"/>
            </a:endParaRPr>
          </a:p>
          <a:p>
            <a:pPr marL="228600" lvl="0" indent="-114300" algn="l" rtl="0">
              <a:lnSpc>
                <a:spcPct val="90000"/>
              </a:lnSpc>
              <a:spcBef>
                <a:spcPts val="1000"/>
              </a:spcBef>
              <a:spcAft>
                <a:spcPts val="0"/>
              </a:spcAft>
              <a:buClr>
                <a:schemeClr val="dk1"/>
              </a:buClr>
              <a:buSzPts val="1800"/>
              <a:buNone/>
            </a:pPr>
            <a:endParaRPr sz="1800" b="1" dirty="0"/>
          </a:p>
        </p:txBody>
      </p:sp>
      <p:sp>
        <p:nvSpPr>
          <p:cNvPr id="177" name="Google Shape;17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3200"/>
            </a:pPr>
            <a:r>
              <a:rPr lang="en-US" dirty="0" smtClean="0">
                <a:solidFill>
                  <a:srgbClr val="FF0000"/>
                </a:solidFill>
              </a:rPr>
              <a:t>Enhancing Privacy in Text Data: A Metric-Differential Privacy Approach. </a:t>
            </a:r>
            <a:r>
              <a:rPr lang="en-US" dirty="0" smtClean="0"/>
              <a:t/>
            </a:r>
            <a:br>
              <a:rPr lang="en-US" dirty="0" smtClean="0"/>
            </a:br>
            <a:r>
              <a:rPr lang="en-US" dirty="0" smtClean="0"/>
              <a:t> Do we really need it?</a:t>
            </a:r>
            <a:endParaRPr dirty="0"/>
          </a:p>
        </p:txBody>
      </p:sp>
      <p:sp>
        <p:nvSpPr>
          <p:cNvPr id="214" name="Google Shape;214;p20"/>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sz="1800" dirty="0" smtClean="0"/>
              <a:t>Encryption </a:t>
            </a:r>
            <a:r>
              <a:rPr lang="en-US" sz="1800" b="1" dirty="0" smtClean="0"/>
              <a:t>alone</a:t>
            </a:r>
            <a:r>
              <a:rPr lang="en-US" sz="1800" dirty="0" smtClean="0"/>
              <a:t> cannot protect the individual’s data Privacy as de-</a:t>
            </a:r>
            <a:r>
              <a:rPr lang="en-US" sz="1800" dirty="0" err="1" smtClean="0"/>
              <a:t>anonymization</a:t>
            </a:r>
            <a:r>
              <a:rPr lang="en-US" sz="1800" dirty="0" smtClean="0"/>
              <a:t> is possible.</a:t>
            </a:r>
          </a:p>
          <a:p>
            <a:pPr marL="228600" lvl="0" indent="-228600">
              <a:buNone/>
            </a:pPr>
            <a:r>
              <a:rPr lang="en-US" sz="1800" dirty="0" smtClean="0"/>
              <a:t>  </a:t>
            </a:r>
            <a:r>
              <a:rPr lang="en-US" sz="1800" b="1" dirty="0" smtClean="0"/>
              <a:t> Example : </a:t>
            </a:r>
            <a:r>
              <a:rPr lang="en-US" sz="1800" dirty="0" smtClean="0"/>
              <a:t> </a:t>
            </a:r>
            <a:r>
              <a:rPr lang="en-US" sz="1800" b="1" dirty="0" smtClean="0"/>
              <a:t>De-</a:t>
            </a:r>
            <a:r>
              <a:rPr lang="en-US" sz="1800" b="1" dirty="0" err="1" smtClean="0"/>
              <a:t>anonymization</a:t>
            </a:r>
            <a:r>
              <a:rPr lang="en-US" sz="1800" b="1" dirty="0" smtClean="0"/>
              <a:t> of the Netflix Prize Dataset</a:t>
            </a:r>
            <a:r>
              <a:rPr lang="en-US" sz="1800" dirty="0" smtClean="0"/>
              <a:t>.</a:t>
            </a:r>
          </a:p>
          <a:p>
            <a:pPr marL="228600" lvl="0" indent="-228600"/>
            <a:r>
              <a:rPr lang="en-US" sz="1800" dirty="0" smtClean="0"/>
              <a:t> An adversary who knows only a little bit about an individual subscriber can easily identify this subscriber’s record in the dataset. </a:t>
            </a:r>
          </a:p>
          <a:p>
            <a:pPr marL="228600" lvl="0" indent="-228600"/>
            <a:r>
              <a:rPr lang="en-US" sz="1800" dirty="0" smtClean="0"/>
              <a:t>Using the Internet Movie Database (</a:t>
            </a:r>
            <a:r>
              <a:rPr lang="en-US" sz="1800" dirty="0" err="1" smtClean="0"/>
              <a:t>IMDb</a:t>
            </a:r>
            <a:r>
              <a:rPr lang="en-US" sz="1800" dirty="0" smtClean="0"/>
              <a:t>) as the source of background knowledge, it was possible to successfully identify the Netflix records of known users who rated movie both on Netflix and IMDB, uncovering their apparent political preferences and other potentially sensitive information.</a:t>
            </a:r>
          </a:p>
          <a:p>
            <a:pPr marL="228600" lvl="0" indent="-114300" algn="l" rtl="0">
              <a:lnSpc>
                <a:spcPct val="90000"/>
              </a:lnSpc>
              <a:spcBef>
                <a:spcPts val="1000"/>
              </a:spcBef>
              <a:spcAft>
                <a:spcPts val="0"/>
              </a:spcAft>
              <a:buClr>
                <a:schemeClr val="dk1"/>
              </a:buClr>
              <a:buSzPts val="1800"/>
              <a:buNone/>
            </a:pPr>
            <a:endParaRPr sz="1800" dirty="0"/>
          </a:p>
        </p:txBody>
      </p:sp>
      <p:sp>
        <p:nvSpPr>
          <p:cNvPr id="215" name="Google Shape;21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Metric-Differential Privacy.</a:t>
            </a:r>
            <a:endParaRPr lang="en-US" dirty="0"/>
          </a:p>
        </p:txBody>
      </p:sp>
      <p:sp>
        <p:nvSpPr>
          <p:cNvPr id="6" name="Text Placeholder 5"/>
          <p:cNvSpPr>
            <a:spLocks noGrp="1"/>
          </p:cNvSpPr>
          <p:nvPr>
            <p:ph type="body" idx="1"/>
          </p:nvPr>
        </p:nvSpPr>
        <p:spPr/>
        <p:txBody>
          <a:bodyPr>
            <a:normAutofit fontScale="92500" lnSpcReduction="10000"/>
          </a:bodyPr>
          <a:lstStyle/>
          <a:p>
            <a:r>
              <a:rPr lang="en-US" b="1" dirty="0" smtClean="0"/>
              <a:t>Metric Differential Privacy (m-DP) </a:t>
            </a:r>
            <a:r>
              <a:rPr lang="en-US" dirty="0" smtClean="0"/>
              <a:t>extends differential privacy to settings where data is in a metric space, preserving privacy while allowing for meaningful distance-based computations.</a:t>
            </a:r>
          </a:p>
          <a:p>
            <a:r>
              <a:rPr lang="en-US" dirty="0" smtClean="0"/>
              <a:t>m-DP adds noise to the distance function between data points to ensure that the distance between points in the dataset does not reveal individual data points.</a:t>
            </a:r>
          </a:p>
          <a:p>
            <a:r>
              <a:rPr lang="en-US" dirty="0" smtClean="0"/>
              <a:t>Noise is added based on the sensitivity of the distance function, defined as the maximum change in distance when a single data point is added or removed.</a:t>
            </a:r>
          </a:p>
          <a:p>
            <a:r>
              <a:rPr lang="en-US" dirty="0" smtClean="0"/>
              <a:t>Noise is typically drawn from a distribution ensuring differential privacy, such as the Laplace or Gaussian distribution.</a:t>
            </a:r>
          </a:p>
          <a:p>
            <a:endParaRPr lang="en-US" dirty="0" smtClean="0"/>
          </a:p>
          <a:p>
            <a:r>
              <a:rPr lang="en-US" dirty="0" smtClean="0"/>
              <a:t>A mechanism satisfies (ε, δ)-m-DP if for all datasets D and D′ that differ in one element, and for all measurable sets S of metric values, Pr[M(D) ∈ S] ≤ </a:t>
            </a:r>
            <a:r>
              <a:rPr lang="en-US" dirty="0" err="1" smtClean="0"/>
              <a:t>e^ε</a:t>
            </a:r>
            <a:r>
              <a:rPr lang="en-US" dirty="0" smtClean="0"/>
              <a:t> · Pr[M(D′) ∈ S] + δ.</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Definition</a:t>
            </a:r>
            <a:endParaRPr lang="en-US" dirty="0"/>
          </a:p>
        </p:txBody>
      </p:sp>
      <p:sp>
        <p:nvSpPr>
          <p:cNvPr id="6" name="Text Placeholder 5"/>
          <p:cNvSpPr>
            <a:spLocks noGrp="1"/>
          </p:cNvSpPr>
          <p:nvPr>
            <p:ph type="body" idx="1"/>
          </p:nvPr>
        </p:nvSpPr>
        <p:spPr/>
        <p:txBody>
          <a:bodyPr>
            <a:normAutofit/>
          </a:bodyPr>
          <a:lstStyle/>
          <a:p>
            <a:r>
              <a:rPr lang="en-US" dirty="0" smtClean="0"/>
              <a:t>A randomized mechanism M satisfies (ε, δ )-m-DP if for all datasets D and D′ </a:t>
            </a:r>
            <a:r>
              <a:rPr lang="en-US" dirty="0" smtClean="0"/>
              <a:t>that differ in </a:t>
            </a:r>
            <a:r>
              <a:rPr lang="en-US" dirty="0" smtClean="0"/>
              <a:t>one element, and for all measurable sets S of metric </a:t>
            </a:r>
            <a:r>
              <a:rPr lang="en-US" dirty="0" smtClean="0"/>
              <a:t>values</a:t>
            </a:r>
          </a:p>
          <a:p>
            <a:pPr algn="ctr">
              <a:buNone/>
            </a:pPr>
            <a:endParaRPr lang="pt-BR" dirty="0" smtClean="0"/>
          </a:p>
          <a:p>
            <a:pPr algn="ctr">
              <a:buNone/>
            </a:pPr>
            <a:r>
              <a:rPr lang="pt-BR" b="1" dirty="0" smtClean="0"/>
              <a:t>Pr[M(D</a:t>
            </a:r>
            <a:r>
              <a:rPr lang="pt-BR" b="1" dirty="0" smtClean="0"/>
              <a:t>) ∈ S] ≤ eε · Pr[M(D′) ∈ S] + </a:t>
            </a:r>
            <a:r>
              <a:rPr lang="pt-BR" b="1" dirty="0" smtClean="0"/>
              <a:t>δ</a:t>
            </a:r>
          </a:p>
          <a:p>
            <a:pPr>
              <a:buNone/>
            </a:pPr>
            <a:endParaRPr lang="en-US" dirty="0" smtClean="0"/>
          </a:p>
          <a:p>
            <a:pPr>
              <a:buNone/>
            </a:pPr>
            <a:r>
              <a:rPr lang="en-US" dirty="0" smtClean="0"/>
              <a:t>where</a:t>
            </a:r>
            <a:r>
              <a:rPr lang="en-US" dirty="0" smtClean="0"/>
              <a:t>:</a:t>
            </a:r>
            <a:br>
              <a:rPr lang="en-US" dirty="0" smtClean="0"/>
            </a:br>
            <a:r>
              <a:rPr lang="en-US" dirty="0" smtClean="0"/>
              <a:t>• ε (epsilon) is the privacy parameter that controls the amount of noise added to </a:t>
            </a:r>
            <a:r>
              <a:rPr lang="en-US" dirty="0" smtClean="0"/>
              <a:t>the distance </a:t>
            </a:r>
            <a:r>
              <a:rPr lang="en-US" dirty="0" smtClean="0"/>
              <a:t>function.</a:t>
            </a:r>
            <a:br>
              <a:rPr lang="en-US" dirty="0" smtClean="0"/>
            </a:br>
            <a:r>
              <a:rPr lang="en-US" dirty="0" smtClean="0"/>
              <a:t>• δ (delta) is the probability that the mechanism deviates from the desired </a:t>
            </a:r>
            <a:r>
              <a:rPr lang="en-US" dirty="0" smtClean="0"/>
              <a:t>privacy guarantee</a:t>
            </a:r>
            <a:r>
              <a:rPr lang="en-US" dirty="0" smtClean="0"/>
              <a:t>.</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Mechanism.</a:t>
            </a:r>
            <a:endParaRPr lang="en-US" dirty="0"/>
          </a:p>
        </p:txBody>
      </p:sp>
      <p:sp>
        <p:nvSpPr>
          <p:cNvPr id="6" name="Text Placeholder 5"/>
          <p:cNvSpPr>
            <a:spLocks noGrp="1"/>
          </p:cNvSpPr>
          <p:nvPr>
            <p:ph type="body" idx="1"/>
          </p:nvPr>
        </p:nvSpPr>
        <p:spPr/>
        <p:txBody>
          <a:bodyPr>
            <a:normAutofit/>
          </a:bodyPr>
          <a:lstStyle/>
          <a:p>
            <a:r>
              <a:rPr lang="en-US" dirty="0" smtClean="0"/>
              <a:t>We employ </a:t>
            </a:r>
            <a:r>
              <a:rPr lang="en-US" b="1" dirty="0" err="1" smtClean="0"/>
              <a:t>dχ</a:t>
            </a:r>
            <a:r>
              <a:rPr lang="en-US" b="1" dirty="0" smtClean="0"/>
              <a:t> -privacy</a:t>
            </a:r>
            <a:r>
              <a:rPr lang="en-US" dirty="0" smtClean="0"/>
              <a:t>, an </a:t>
            </a:r>
            <a:r>
              <a:rPr lang="en-US" dirty="0" err="1" smtClean="0"/>
              <a:t>extention</a:t>
            </a:r>
            <a:r>
              <a:rPr lang="en-US" dirty="0" smtClean="0"/>
              <a:t> of m-DP, to define privacy based on </a:t>
            </a:r>
            <a:r>
              <a:rPr lang="en-US" dirty="0" err="1" smtClean="0"/>
              <a:t>distinguishability</a:t>
            </a:r>
            <a:r>
              <a:rPr lang="en-US" dirty="0" smtClean="0"/>
              <a:t> between inputs, allowing for more distinguishable output distributions based on input separation.</a:t>
            </a:r>
          </a:p>
          <a:p>
            <a:r>
              <a:rPr lang="en-US" dirty="0" smtClean="0"/>
              <a:t>Our </a:t>
            </a:r>
            <a:r>
              <a:rPr lang="en-US" dirty="0" smtClean="0"/>
              <a:t>Mechanism replace original word x with perturbed word </a:t>
            </a:r>
            <a:r>
              <a:rPr lang="en-US" i="1" dirty="0" smtClean="0">
                <a:solidFill>
                  <a:srgbClr val="0D0D0D"/>
                </a:solidFill>
                <a:latin typeface="KaTeX_Math"/>
              </a:rPr>
              <a:t>x</a:t>
            </a:r>
            <a:r>
              <a:rPr lang="en-US" dirty="0" smtClean="0">
                <a:solidFill>
                  <a:srgbClr val="0D0D0D"/>
                </a:solidFill>
                <a:latin typeface="KaTeX_Main"/>
              </a:rPr>
              <a:t>^(x hat)</a:t>
            </a:r>
            <a:r>
              <a:rPr lang="en-US" dirty="0" smtClean="0"/>
              <a:t>  = M(x) using a carefully crafted probability distribution to preserve semantic meaning while hiding user identity.</a:t>
            </a:r>
          </a:p>
          <a:p>
            <a:r>
              <a:rPr lang="en-US" b="1" dirty="0" smtClean="0"/>
              <a:t>Processing Steps:</a:t>
            </a:r>
            <a:endParaRPr lang="en-US" dirty="0" smtClean="0"/>
          </a:p>
          <a:p>
            <a:pPr lvl="1"/>
            <a:r>
              <a:rPr lang="en-US" dirty="0" smtClean="0"/>
              <a:t>Map text into high-dimensional vector space using word embeddings.</a:t>
            </a:r>
          </a:p>
          <a:p>
            <a:pPr lvl="1"/>
            <a:r>
              <a:rPr lang="en-US" dirty="0" smtClean="0"/>
              <a:t>Add noise to vector representation.</a:t>
            </a:r>
          </a:p>
          <a:p>
            <a:pPr lvl="1"/>
            <a:r>
              <a:rPr lang="en-US" dirty="0" smtClean="0"/>
              <a:t>Project noisy vector back to obtain perturbed word, ensuring semantic preservation.</a:t>
            </a:r>
          </a:p>
          <a:p>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Algorithm.</a:t>
            </a:r>
            <a:endParaRPr lang="en-US" dirty="0"/>
          </a:p>
        </p:txBody>
      </p:sp>
      <p:sp>
        <p:nvSpPr>
          <p:cNvPr id="6" name="Text Placeholder 5"/>
          <p:cNvSpPr>
            <a:spLocks noGrp="1"/>
          </p:cNvSpPr>
          <p:nvPr>
            <p:ph type="body" idx="1"/>
          </p:nvPr>
        </p:nvSpPr>
        <p:spPr/>
        <p:txBody>
          <a:bodyPr/>
          <a:lstStyle/>
          <a:p>
            <a:r>
              <a:rPr lang="en-US" b="1" dirty="0" smtClean="0"/>
              <a:t>Input</a:t>
            </a:r>
            <a:r>
              <a:rPr lang="en-US" dirty="0" smtClean="0"/>
              <a:t> – A string x of length l.</a:t>
            </a:r>
          </a:p>
          <a:p>
            <a:r>
              <a:rPr lang="en-US" b="1" dirty="0" smtClean="0"/>
              <a:t>Output</a:t>
            </a:r>
            <a:r>
              <a:rPr lang="en-US" dirty="0" smtClean="0"/>
              <a:t> – A string 𝑥^</a:t>
            </a:r>
            <a:r>
              <a:rPr lang="en-US" i="1" dirty="0" smtClean="0"/>
              <a:t> of length l.</a:t>
            </a:r>
          </a:p>
          <a:p>
            <a:r>
              <a:rPr lang="en-US" b="1" dirty="0" smtClean="0"/>
              <a:t>Privacy Mechanism:</a:t>
            </a:r>
            <a:r>
              <a:rPr lang="en-US" dirty="0" smtClean="0"/>
              <a:t> Uses a d</a:t>
            </a:r>
            <a:r>
              <a:rPr lang="el-GR" dirty="0" smtClean="0"/>
              <a:t>χ -</a:t>
            </a:r>
            <a:r>
              <a:rPr lang="en-US" dirty="0" smtClean="0"/>
              <a:t>privacy mechanism 𝑀:𝑋→𝑋 to privatize 𝑥, where 𝑋=𝑊^ℓ is the space of all strings of length ℓ containing words in a dictionary 𝑊.</a:t>
            </a:r>
          </a:p>
          <a:p>
            <a:r>
              <a:rPr lang="en-US" b="1" dirty="0" smtClean="0"/>
              <a:t>Metric Considered:</a:t>
            </a:r>
            <a:r>
              <a:rPr lang="en-US" dirty="0" smtClean="0"/>
              <a:t> The metric between strings is obtained using a word embedding model 𝜑:𝑊→𝑅^n , where 𝑑(𝑥,𝑥′)=∑𝑖=1ℓ∥𝜑(𝑤𝑖)−𝜑(𝑤𝑖′)∥ and ∥⋅∥ indicates the Euclidean norm on 𝑅^n.</a:t>
            </a:r>
          </a:p>
          <a:p>
            <a:r>
              <a:rPr lang="en-US" b="1" dirty="0" smtClean="0"/>
              <a:t>Noise Density:</a:t>
            </a:r>
            <a:r>
              <a:rPr lang="en-US" dirty="0" smtClean="0"/>
              <a:t> The density of the noise, 𝑁</a:t>
            </a:r>
            <a:r>
              <a:rPr lang="en-US" i="1" dirty="0" smtClean="0"/>
              <a:t>N</a:t>
            </a:r>
            <a:r>
              <a:rPr lang="en-US" dirty="0" smtClean="0"/>
              <a:t>, is 𝑝𝑁(𝑧)∝exp⁡(−𝜖∥𝑧∥)</a:t>
            </a:r>
            <a:r>
              <a:rPr lang="en-US" i="1" dirty="0" smtClean="0"/>
              <a:t> </a:t>
            </a:r>
            <a:r>
              <a:rPr lang="en-US" dirty="0" smtClean="0"/>
              <a:t>where 𝜖</a:t>
            </a:r>
            <a:r>
              <a:rPr lang="el-GR" dirty="0" smtClean="0"/>
              <a:t> </a:t>
            </a:r>
            <a:r>
              <a:rPr lang="en-US" dirty="0" smtClean="0"/>
              <a:t>is the mechanism’s privacy parameter.</a:t>
            </a:r>
          </a:p>
          <a:p>
            <a:endParaRPr lang="en-US" dirty="0" smtClean="0"/>
          </a:p>
          <a:p>
            <a:endParaRPr lang="en-US" dirty="0" smtClean="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Algorithm.</a:t>
            </a:r>
            <a:endParaRPr lang="en-US" dirty="0"/>
          </a:p>
        </p:txBody>
      </p:sp>
      <p:sp>
        <p:nvSpPr>
          <p:cNvPr id="6" name="Text Placeholder 5"/>
          <p:cNvSpPr>
            <a:spLocks noGrp="1"/>
          </p:cNvSpPr>
          <p:nvPr>
            <p:ph type="body" idx="1"/>
          </p:nvPr>
        </p:nvSpPr>
        <p:spPr/>
        <p:txBody>
          <a:bodyPr/>
          <a:lstStyle/>
          <a:p>
            <a:r>
              <a:rPr lang="en-US" b="1" dirty="0" smtClean="0"/>
              <a:t>Implementation:</a:t>
            </a:r>
            <a:endParaRPr lang="en-US" dirty="0" smtClean="0"/>
          </a:p>
          <a:p>
            <a:pPr marL="1028700" lvl="1" indent="-457200">
              <a:buFont typeface="+mj-lt"/>
              <a:buAutoNum type="arabicPeriod"/>
            </a:pPr>
            <a:r>
              <a:rPr lang="en-US" dirty="0" smtClean="0"/>
              <a:t>Compute the embedding 𝜑(𝑤) of each word 𝑤 in 𝑥.</a:t>
            </a:r>
          </a:p>
          <a:p>
            <a:pPr marL="1028700" lvl="1" indent="-457200">
              <a:buFont typeface="+mj-lt"/>
              <a:buAutoNum type="arabicPeriod"/>
            </a:pPr>
            <a:r>
              <a:rPr lang="en-US" dirty="0" smtClean="0"/>
              <a:t>Add random noise 𝑁 to obtain perturbed embedding 𝜑^=𝜑(𝑤)+𝑁.</a:t>
            </a:r>
          </a:p>
          <a:p>
            <a:pPr marL="1028700" lvl="1" indent="-457200">
              <a:buFont typeface="+mj-lt"/>
              <a:buAutoNum type="arabicPeriod"/>
            </a:pPr>
            <a:r>
              <a:rPr lang="en-US" dirty="0" smtClean="0"/>
              <a:t>Find the top 5 nearest neighbors to the perturbed embedding.</a:t>
            </a:r>
          </a:p>
          <a:p>
            <a:pPr marL="1028700" lvl="1" indent="-457200">
              <a:buFont typeface="+mj-lt"/>
              <a:buAutoNum type="arabicPeriod"/>
            </a:pPr>
            <a:r>
              <a:rPr lang="en-US" dirty="0" smtClean="0"/>
              <a:t>Generate a random number between 1 and 5 (inclusive).</a:t>
            </a:r>
          </a:p>
          <a:p>
            <a:pPr marL="1028700" lvl="1" indent="-457200">
              <a:buFont typeface="+mj-lt"/>
              <a:buAutoNum type="arabicPeriod"/>
            </a:pPr>
            <a:r>
              <a:rPr lang="en-US" dirty="0" smtClean="0"/>
              <a:t>Choose the nearest neighbor at the index corresponding to the generated random number from the list of nearest neighbors.</a:t>
            </a:r>
          </a:p>
          <a:p>
            <a:pPr marL="1028700" lvl="1" indent="-457200">
              <a:buFont typeface="+mj-lt"/>
              <a:buAutoNum type="arabicPeriod"/>
            </a:pPr>
            <a:r>
              <a:rPr lang="en-US" dirty="0" smtClean="0"/>
              <a:t>Choose nearest neighbor at index r as ˆw.</a:t>
            </a:r>
          </a:p>
          <a:p>
            <a:pPr marL="1028700" lvl="1" indent="-457200">
              <a:buFont typeface="+mj-lt"/>
              <a:buAutoNum type="arabicPeriod"/>
            </a:pPr>
            <a:r>
              <a:rPr lang="en-US" dirty="0" smtClean="0"/>
              <a:t>Replace w with ˆw .</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br>
              <a:rPr lang="en-US" dirty="0" smtClean="0">
                <a:solidFill>
                  <a:srgbClr val="FF0000"/>
                </a:solidFill>
              </a:rPr>
            </a:br>
            <a:r>
              <a:rPr lang="en-US" dirty="0" smtClean="0">
                <a:solidFill>
                  <a:srgbClr val="FF0000"/>
                </a:solidFill>
              </a:rPr>
              <a:t> </a:t>
            </a:r>
            <a:r>
              <a:rPr lang="en-US" dirty="0" smtClean="0">
                <a:solidFill>
                  <a:schemeClr val="tx1"/>
                </a:solidFill>
              </a:rPr>
              <a:t>Plausible Deniability Statistics.</a:t>
            </a:r>
            <a:endParaRPr lang="en-US" dirty="0">
              <a:solidFill>
                <a:schemeClr val="tx1"/>
              </a:solidFill>
            </a:endParaRPr>
          </a:p>
        </p:txBody>
      </p:sp>
      <p:sp>
        <p:nvSpPr>
          <p:cNvPr id="8" name="Text Placeholder 7"/>
          <p:cNvSpPr>
            <a:spLocks noGrp="1"/>
          </p:cNvSpPr>
          <p:nvPr>
            <p:ph type="body" idx="1"/>
          </p:nvPr>
        </p:nvSpPr>
        <p:spPr/>
        <p:txBody>
          <a:bodyPr>
            <a:normAutofit fontScale="85000" lnSpcReduction="20000"/>
          </a:bodyPr>
          <a:lstStyle/>
          <a:p>
            <a:r>
              <a:rPr lang="en-US" dirty="0" smtClean="0"/>
              <a:t>Plausible Deniability refers to the probability of accurately deducing the original input from a sample obtained from the privatization mechanism.</a:t>
            </a:r>
          </a:p>
          <a:p>
            <a:r>
              <a:rPr lang="en-US" dirty="0" smtClean="0"/>
              <a:t>The original word should have a low probability of being released unaltered.</a:t>
            </a:r>
          </a:p>
          <a:p>
            <a:r>
              <a:rPr lang="en-US" dirty="0" smtClean="0"/>
              <a:t>LDP requires almost every possible outcome for a perturbed word, whereas </a:t>
            </a:r>
            <a:r>
              <a:rPr lang="en-US" dirty="0" err="1" smtClean="0"/>
              <a:t>dχ</a:t>
            </a:r>
            <a:r>
              <a:rPr lang="en-US" dirty="0" smtClean="0"/>
              <a:t> -privacy allocates sufficient probability to words similar to the original to protect its identity.</a:t>
            </a:r>
          </a:p>
          <a:p>
            <a:r>
              <a:rPr lang="en-US" b="1" dirty="0" smtClean="0"/>
              <a:t>Metrics Considered:</a:t>
            </a:r>
            <a:endParaRPr lang="en-US" dirty="0" smtClean="0"/>
          </a:p>
          <a:p>
            <a:pPr lvl="1"/>
            <a:r>
              <a:rPr lang="en-US" dirty="0" smtClean="0"/>
              <a:t>Effective support of the output distribution 𝑆𝑤:the number of possible output words for an input word 𝑤.</a:t>
            </a:r>
          </a:p>
          <a:p>
            <a:pPr lvl="1"/>
            <a:r>
              <a:rPr lang="en-US" dirty="0" smtClean="0"/>
              <a:t>Probability 𝑁𝑤=Pr[𝑀(𝑤)=𝑤] of not changing the input word 𝑤.</a:t>
            </a:r>
          </a:p>
          <a:p>
            <a:endParaRPr lang="en-US" dirty="0" smtClean="0"/>
          </a:p>
          <a:p>
            <a:pPr marL="457200" lvl="1">
              <a:spcBef>
                <a:spcPts val="1000"/>
              </a:spcBef>
            </a:pPr>
            <a:r>
              <a:rPr lang="en-US" dirty="0" smtClean="0"/>
              <a:t>For (almost) all words in 𝑊, a setting of ε that allows plausible deniability should have a large 𝑆𝑤 and a small 𝑁𝑤​.</a:t>
            </a:r>
          </a:p>
          <a:p>
            <a:pPr lvl="1">
              <a:buNone/>
            </a:pPr>
            <a:endParaRPr lang="en-US" dirty="0" smtClean="0"/>
          </a:p>
          <a:p>
            <a:pPr lvl="1">
              <a:buNone/>
            </a:pPr>
            <a:r>
              <a:rPr lang="en-US" dirty="0" smtClean="0"/>
              <a:t/>
            </a:r>
            <a:br>
              <a:rPr lang="en-US" dirty="0" smtClean="0"/>
            </a:br>
            <a:endParaRPr lang="en-US" dirty="0" smtClean="0"/>
          </a:p>
          <a:p>
            <a:pPr lvl="1">
              <a:buNone/>
            </a:pPr>
            <a:endParaRPr lang="en-US" dirty="0" smtClean="0"/>
          </a:p>
          <a:p>
            <a:pPr lvl="1">
              <a:buNone/>
            </a:pPr>
            <a:endParaRPr lang="en-US" dirty="0" smtClean="0"/>
          </a:p>
          <a:p>
            <a:pPr lvl="1">
              <a:buNone/>
            </a:pPr>
            <a:endParaRPr lang="en-US" dirty="0" smtClean="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Modification and its implications.</a:t>
            </a:r>
            <a:endParaRPr lang="en-US" dirty="0"/>
          </a:p>
        </p:txBody>
      </p:sp>
      <p:sp>
        <p:nvSpPr>
          <p:cNvPr id="6" name="Text Placeholder 5"/>
          <p:cNvSpPr>
            <a:spLocks noGrp="1"/>
          </p:cNvSpPr>
          <p:nvPr>
            <p:ph type="body" idx="1"/>
          </p:nvPr>
        </p:nvSpPr>
        <p:spPr/>
        <p:txBody>
          <a:bodyPr/>
          <a:lstStyle/>
          <a:p>
            <a:r>
              <a:rPr lang="en-US" b="1" dirty="0" smtClean="0"/>
              <a:t>Our Modification:</a:t>
            </a:r>
            <a:endParaRPr lang="en-US" dirty="0" smtClean="0"/>
          </a:p>
          <a:p>
            <a:pPr lvl="1"/>
            <a:r>
              <a:rPr lang="en-US" dirty="0" smtClean="0"/>
              <a:t>Steps 5 to 8 of the algorithm are modified.</a:t>
            </a:r>
          </a:p>
          <a:p>
            <a:pPr lvl="1"/>
            <a:r>
              <a:rPr lang="en-US" dirty="0" smtClean="0"/>
              <a:t>Instead of selecting the nearest neighbor, we choose from the top 5 nearest neighbors.</a:t>
            </a:r>
          </a:p>
          <a:p>
            <a:pPr lvl="1"/>
            <a:r>
              <a:rPr lang="en-US" dirty="0" smtClean="0"/>
              <a:t>A random number between 1 and 5 is generated to select the neighbor.</a:t>
            </a:r>
          </a:p>
          <a:p>
            <a:r>
              <a:rPr lang="en-US" b="1" dirty="0" smtClean="0"/>
              <a:t>Effects:</a:t>
            </a:r>
            <a:endParaRPr lang="en-US" dirty="0" smtClean="0"/>
          </a:p>
          <a:p>
            <a:pPr lvl="1"/>
            <a:r>
              <a:rPr lang="en-US" dirty="0" smtClean="0"/>
              <a:t>Decreases the value of 𝑁𝑤=Pr[𝑀(𝑤)=𝑤] for each word.</a:t>
            </a:r>
          </a:p>
          <a:p>
            <a:pPr lvl="1"/>
            <a:r>
              <a:rPr lang="en-US" dirty="0" smtClean="0"/>
              <a:t>Increases the plausible deniability provided by the algorithm.</a:t>
            </a:r>
          </a:p>
          <a:p>
            <a:pPr lvl="1"/>
            <a:r>
              <a:rPr lang="en-US" dirty="0" smtClean="0"/>
              <a:t>Enhances the privacy guarantee of the mechanism by introducing more variability in the selection process.</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 </a:t>
            </a:r>
            <a:r>
              <a:rPr lang="en-US" dirty="0" smtClean="0"/>
              <a:t/>
            </a:r>
            <a:br>
              <a:rPr lang="en-US" dirty="0" smtClean="0"/>
            </a:br>
            <a:r>
              <a:rPr lang="en-US" dirty="0" smtClean="0"/>
              <a:t>Noise Addition</a:t>
            </a:r>
            <a:endParaRPr lang="en-US" dirty="0"/>
          </a:p>
        </p:txBody>
      </p:sp>
      <p:sp>
        <p:nvSpPr>
          <p:cNvPr id="6" name="Text Placeholder 5"/>
          <p:cNvSpPr>
            <a:spLocks noGrp="1"/>
          </p:cNvSpPr>
          <p:nvPr>
            <p:ph type="body" idx="1"/>
          </p:nvPr>
        </p:nvSpPr>
        <p:spPr/>
        <p:txBody>
          <a:bodyPr>
            <a:normAutofit fontScale="92500"/>
          </a:bodyPr>
          <a:lstStyle/>
          <a:p>
            <a:r>
              <a:rPr lang="en-US" dirty="0" smtClean="0"/>
              <a:t>Start by sampling a vector-valued random variable 𝑣=[𝑣1,...,𝑣𝑛]from a multivariate normal distribution to introduce noise.</a:t>
            </a:r>
          </a:p>
          <a:p>
            <a:r>
              <a:rPr lang="en-US" dirty="0" smtClean="0"/>
              <a:t>Use the multivariate normal distribution formula: 𝑝(𝑥;𝜇,</a:t>
            </a:r>
            <a:r>
              <a:rPr lang="el-GR" dirty="0" smtClean="0"/>
              <a:t>Σ)=1(2</a:t>
            </a:r>
            <a:r>
              <a:rPr lang="en-US" dirty="0" smtClean="0"/>
              <a:t>𝜋)𝑛/2∣</a:t>
            </a:r>
            <a:r>
              <a:rPr lang="el-GR" dirty="0" smtClean="0"/>
              <a:t>Σ∣1/2</a:t>
            </a:r>
            <a:r>
              <a:rPr lang="en-US" dirty="0" smtClean="0"/>
              <a:t>exp⁡(−12(𝑥−𝜇)𝑇</a:t>
            </a:r>
            <a:r>
              <a:rPr lang="el-GR" dirty="0" smtClean="0"/>
              <a:t>Σ−1(</a:t>
            </a:r>
            <a:r>
              <a:rPr lang="en-US" dirty="0" smtClean="0"/>
              <a:t>𝑥−𝜇))</a:t>
            </a:r>
            <a:r>
              <a:rPr lang="en-US" i="1" dirty="0" smtClean="0"/>
              <a:t> </a:t>
            </a:r>
            <a:r>
              <a:rPr lang="en-US" dirty="0" smtClean="0"/>
              <a:t>where :</a:t>
            </a:r>
          </a:p>
          <a:p>
            <a:r>
              <a:rPr lang="el-GR" dirty="0" smtClean="0"/>
              <a:t>Σ </a:t>
            </a:r>
            <a:r>
              <a:rPr lang="en-US" dirty="0" smtClean="0"/>
              <a:t>is the identity matrix representing the covariance matrix,.</a:t>
            </a:r>
          </a:p>
          <a:p>
            <a:r>
              <a:rPr lang="en-US" dirty="0" smtClean="0"/>
              <a:t>𝜇</a:t>
            </a:r>
            <a:r>
              <a:rPr lang="el-GR" dirty="0" smtClean="0"/>
              <a:t> </a:t>
            </a:r>
            <a:r>
              <a:rPr lang="en-US" dirty="0" smtClean="0"/>
              <a:t>is centered at the origin, and 𝑛 is the dimensionality of the word embedding.</a:t>
            </a:r>
          </a:p>
          <a:p>
            <a:r>
              <a:rPr lang="en-US" dirty="0" smtClean="0"/>
              <a:t>Normalize the vector 𝑣 to ensure it is inside the unit ball.</a:t>
            </a:r>
          </a:p>
          <a:p>
            <a:r>
              <a:rPr lang="en-US" dirty="0" smtClean="0"/>
              <a:t>Take a magnitude sample 𝑙 from the distribution of Gamma.</a:t>
            </a:r>
          </a:p>
          <a:p>
            <a:r>
              <a:rPr lang="en-US" dirty="0" smtClean="0"/>
              <a:t>Use the Gamma distribution formula: 𝑝(𝑥;𝑛,𝜃)=𝑥𝑛−1𝑒−𝑥/𝜃</a:t>
            </a:r>
            <a:r>
              <a:rPr lang="el-GR" dirty="0" smtClean="0"/>
              <a:t>Γ(</a:t>
            </a:r>
            <a:r>
              <a:rPr lang="en-US" dirty="0" smtClean="0"/>
              <a:t>𝑛)𝜃^𝑛</a:t>
            </a:r>
            <a:r>
              <a:rPr lang="el-GR" dirty="0" smtClean="0"/>
              <a:t>​, </a:t>
            </a:r>
            <a:r>
              <a:rPr lang="en-US" dirty="0" smtClean="0"/>
              <a:t>where 𝜃=1/𝜖</a:t>
            </a:r>
            <a:r>
              <a:rPr lang="el-GR" dirty="0" smtClean="0"/>
              <a:t>, </a:t>
            </a:r>
            <a:r>
              <a:rPr lang="en-US" dirty="0" smtClean="0"/>
              <a:t>and </a:t>
            </a:r>
            <a:r>
              <a:rPr lang="el-GR" dirty="0" smtClean="0"/>
              <a:t>Γ </a:t>
            </a:r>
            <a:r>
              <a:rPr lang="en-US" dirty="0" smtClean="0"/>
              <a:t>is the gamma function.</a:t>
            </a:r>
          </a:p>
          <a:p>
            <a:r>
              <a:rPr lang="en-US" dirty="0" smtClean="0"/>
              <a:t>Calculate 𝑙𝑣 as the output of a noisy vector sample at privacy parameter 𝜖</a:t>
            </a:r>
            <a:r>
              <a:rPr lang="el-GR" i="1" dirty="0" smtClean="0"/>
              <a:t>ϵ</a:t>
            </a:r>
            <a:r>
              <a:rPr lang="el-GR" dirty="0" smtClean="0"/>
              <a:t>.</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4"/>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fontScale="90000"/>
          </a:bodyPr>
          <a:lstStyle/>
          <a:p>
            <a:pPr lvl="0">
              <a:buSzPct val="100000"/>
            </a:pPr>
            <a:r>
              <a:rPr lang="en-US" dirty="0"/>
              <a:t/>
            </a:r>
            <a:br>
              <a:rPr lang="en-US" dirty="0"/>
            </a:br>
            <a:r>
              <a:rPr lang="en-US" dirty="0" smtClean="0">
                <a:solidFill>
                  <a:srgbClr val="FF0000"/>
                </a:solidFill>
              </a:rPr>
              <a:t>Enhancing Privacy in Text Data: A Metric-Differential Privacy Approach. </a:t>
            </a:r>
            <a:r>
              <a:rPr lang="en-US" sz="3600" b="1" dirty="0">
                <a:solidFill>
                  <a:srgbClr val="FF0000"/>
                </a:solidFill>
              </a:rPr>
              <a:t/>
            </a:r>
            <a:br>
              <a:rPr lang="en-US" sz="3600" b="1" dirty="0">
                <a:solidFill>
                  <a:srgbClr val="FF0000"/>
                </a:solidFill>
              </a:rPr>
            </a:br>
            <a:r>
              <a:rPr lang="en-US" dirty="0"/>
              <a:t>Who’s using Differential Privacy?(S.O.T.A)</a:t>
            </a:r>
            <a:br>
              <a:rPr lang="en-US" dirty="0"/>
            </a:br>
            <a:endParaRPr b="1" dirty="0"/>
          </a:p>
        </p:txBody>
      </p:sp>
      <p:sp>
        <p:nvSpPr>
          <p:cNvPr id="242" name="Google Shape;242;p24"/>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lgn="l" rtl="0">
              <a:lnSpc>
                <a:spcPct val="150000"/>
              </a:lnSpc>
              <a:spcBef>
                <a:spcPts val="0"/>
              </a:spcBef>
              <a:spcAft>
                <a:spcPts val="0"/>
              </a:spcAft>
              <a:buClr>
                <a:schemeClr val="dk1"/>
              </a:buClr>
              <a:buSzPts val="1800"/>
              <a:buChar char="•"/>
            </a:pPr>
            <a:r>
              <a:rPr lang="en-US" sz="1800" b="1"/>
              <a:t>RAPPOR</a:t>
            </a:r>
            <a:r>
              <a:rPr lang="en-US" sz="1800"/>
              <a:t> - Google used local differential privacy to collect data from users, like other running processes and Chrome home pages.</a:t>
            </a:r>
            <a:endParaRPr/>
          </a:p>
          <a:p>
            <a:pPr marL="228600" lvl="0" indent="-228600" algn="l" rtl="0">
              <a:lnSpc>
                <a:spcPct val="150000"/>
              </a:lnSpc>
              <a:spcBef>
                <a:spcPts val="1000"/>
              </a:spcBef>
              <a:spcAft>
                <a:spcPts val="0"/>
              </a:spcAft>
              <a:buClr>
                <a:schemeClr val="dk1"/>
              </a:buClr>
              <a:buSzPts val="1800"/>
              <a:buChar char="•"/>
            </a:pPr>
            <a:r>
              <a:rPr lang="en-US" sz="1800" b="1"/>
              <a:t>Private Count Mean Sketch (and variances) - </a:t>
            </a:r>
            <a:r>
              <a:rPr lang="en-US" sz="1800"/>
              <a:t>Apple used local differential privacy to collect emoji usage data, word usage and other information from iPhone users (iOS keyboard).</a:t>
            </a:r>
            <a:endParaRPr/>
          </a:p>
          <a:p>
            <a:pPr marL="228600" lvl="0" indent="-228600" algn="l" rtl="0">
              <a:lnSpc>
                <a:spcPct val="150000"/>
              </a:lnSpc>
              <a:spcBef>
                <a:spcPts val="1000"/>
              </a:spcBef>
              <a:spcAft>
                <a:spcPts val="0"/>
              </a:spcAft>
              <a:buClr>
                <a:schemeClr val="dk1"/>
              </a:buClr>
              <a:buSzPts val="1800"/>
              <a:buChar char="•"/>
            </a:pPr>
            <a:r>
              <a:rPr lang="en-US" sz="1800" b="1"/>
              <a:t>The US  Bureau of Census </a:t>
            </a:r>
            <a:r>
              <a:rPr lang="en-US" sz="1800"/>
              <a:t>will use differential privacy to sanitize the data of 2020 census before  publication.</a:t>
            </a:r>
            <a:endParaRPr/>
          </a:p>
          <a:p>
            <a:pPr marL="228600" lvl="0" indent="-228600" algn="l" rtl="0">
              <a:lnSpc>
                <a:spcPct val="150000"/>
              </a:lnSpc>
              <a:spcBef>
                <a:spcPts val="1000"/>
              </a:spcBef>
              <a:spcAft>
                <a:spcPts val="0"/>
              </a:spcAft>
              <a:buClr>
                <a:schemeClr val="dk1"/>
              </a:buClr>
              <a:buSzPts val="1800"/>
              <a:buNone/>
            </a:pPr>
            <a:endParaRPr sz="1800"/>
          </a:p>
        </p:txBody>
      </p:sp>
      <p:sp>
        <p:nvSpPr>
          <p:cNvPr id="243" name="Google Shape;24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a:t>
            </a:r>
            <a:br>
              <a:rPr lang="en-US" dirty="0" smtClean="0">
                <a:solidFill>
                  <a:srgbClr val="FF0000"/>
                </a:solidFill>
              </a:rPr>
            </a:br>
            <a:r>
              <a:rPr lang="en-US" dirty="0" smtClean="0">
                <a:solidFill>
                  <a:schemeClr val="tx1"/>
                </a:solidFill>
              </a:rPr>
              <a:t>Experimental Setup.</a:t>
            </a:r>
            <a:endParaRPr lang="en-US" dirty="0">
              <a:solidFill>
                <a:schemeClr val="tx1"/>
              </a:solidFill>
            </a:endParaRPr>
          </a:p>
        </p:txBody>
      </p:sp>
      <p:sp>
        <p:nvSpPr>
          <p:cNvPr id="6" name="Text Placeholder 5"/>
          <p:cNvSpPr>
            <a:spLocks noGrp="1"/>
          </p:cNvSpPr>
          <p:nvPr>
            <p:ph type="body" idx="1"/>
          </p:nvPr>
        </p:nvSpPr>
        <p:spPr/>
        <p:txBody>
          <a:bodyPr>
            <a:normAutofit fontScale="92500" lnSpcReduction="10000"/>
          </a:bodyPr>
          <a:lstStyle/>
          <a:p>
            <a:r>
              <a:rPr lang="en-US" dirty="0" smtClean="0"/>
              <a:t>We demonstrated the trade-off between privacy and utility across various </a:t>
            </a:r>
            <a:r>
              <a:rPr lang="en-US" i="1" dirty="0" smtClean="0"/>
              <a:t>ϵ</a:t>
            </a:r>
            <a:r>
              <a:rPr lang="en-US" dirty="0" smtClean="0"/>
              <a:t> values at:</a:t>
            </a:r>
          </a:p>
          <a:p>
            <a:r>
              <a:rPr lang="en-US" b="1" dirty="0" smtClean="0"/>
              <a:t>Classifier:</a:t>
            </a:r>
            <a:r>
              <a:rPr lang="en-US" dirty="0" smtClean="0"/>
              <a:t> Naive </a:t>
            </a:r>
            <a:r>
              <a:rPr lang="en-US" dirty="0" err="1" smtClean="0"/>
              <a:t>Bayes</a:t>
            </a:r>
            <a:r>
              <a:rPr lang="en-US" dirty="0" smtClean="0"/>
              <a:t> classifier.</a:t>
            </a:r>
          </a:p>
          <a:p>
            <a:r>
              <a:rPr lang="en-US" b="1" dirty="0" smtClean="0"/>
              <a:t>Evaluation metric:</a:t>
            </a:r>
            <a:r>
              <a:rPr lang="en-US" dirty="0" smtClean="0"/>
              <a:t> classification accuracy.</a:t>
            </a:r>
          </a:p>
          <a:p>
            <a:pPr marL="571500" indent="-457200">
              <a:buFont typeface="+mj-lt"/>
              <a:buAutoNum type="arabicPeriod"/>
            </a:pPr>
            <a:r>
              <a:rPr lang="en-US" b="1" dirty="0" smtClean="0"/>
              <a:t>Training Time:</a:t>
            </a:r>
            <a:endParaRPr lang="en-US" dirty="0" smtClean="0"/>
          </a:p>
          <a:p>
            <a:pPr marL="1028700" lvl="1" indent="-457200"/>
            <a:r>
              <a:rPr lang="en-US" dirty="0" smtClean="0"/>
              <a:t>Model trained on partial training set of 15,000 </a:t>
            </a:r>
            <a:r>
              <a:rPr lang="en-US" dirty="0" err="1" smtClean="0"/>
              <a:t>privatised</a:t>
            </a:r>
            <a:r>
              <a:rPr lang="en-US" dirty="0" smtClean="0"/>
              <a:t> reviews.</a:t>
            </a:r>
          </a:p>
          <a:p>
            <a:pPr marL="1028700" lvl="1" indent="-457200"/>
            <a:r>
              <a:rPr lang="en-US" dirty="0" smtClean="0"/>
              <a:t>Tested on last 10,000 reviews from the test set.</a:t>
            </a:r>
          </a:p>
          <a:p>
            <a:pPr marL="571500" indent="-457200">
              <a:buFont typeface="+mj-lt"/>
              <a:buAutoNum type="arabicPeriod"/>
            </a:pPr>
            <a:r>
              <a:rPr lang="en-US" b="1" dirty="0" smtClean="0"/>
              <a:t>Test Time:</a:t>
            </a:r>
            <a:endParaRPr lang="en-US" dirty="0" smtClean="0"/>
          </a:p>
          <a:p>
            <a:pPr marL="1028700" lvl="1" indent="-457200"/>
            <a:r>
              <a:rPr lang="en-US" dirty="0" smtClean="0"/>
              <a:t>Model trained on partial training set of 15,000 non-</a:t>
            </a:r>
            <a:r>
              <a:rPr lang="en-US" dirty="0" err="1" smtClean="0"/>
              <a:t>privatised</a:t>
            </a:r>
            <a:r>
              <a:rPr lang="en-US" dirty="0" smtClean="0"/>
              <a:t> reviews.</a:t>
            </a:r>
          </a:p>
          <a:p>
            <a:pPr marL="1028700" lvl="1" indent="-457200"/>
            <a:r>
              <a:rPr lang="en-US" dirty="0" smtClean="0"/>
              <a:t>Tested on last 10,000 reviews from </a:t>
            </a:r>
            <a:r>
              <a:rPr lang="en-US" dirty="0" err="1" smtClean="0"/>
              <a:t>privatised</a:t>
            </a:r>
            <a:r>
              <a:rPr lang="en-US" dirty="0" smtClean="0"/>
              <a:t> test set.</a:t>
            </a:r>
          </a:p>
          <a:p>
            <a:pPr>
              <a:buNone/>
            </a:pPr>
            <a:r>
              <a:rPr lang="en-US" dirty="0" smtClean="0"/>
              <a:t/>
            </a:r>
            <a:br>
              <a:rPr lang="en-US" dirty="0" smtClean="0"/>
            </a:b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solidFill>
                  <a:srgbClr val="FF0000"/>
                </a:solidFill>
              </a:rPr>
              <a:t>Enhancing Privacy in Text Data: A Metric-Differential Privacy Approach.</a:t>
            </a:r>
            <a:br>
              <a:rPr lang="en-US" dirty="0" smtClean="0">
                <a:solidFill>
                  <a:srgbClr val="FF0000"/>
                </a:solidFill>
              </a:rPr>
            </a:br>
            <a:r>
              <a:rPr lang="en-US" dirty="0" smtClean="0">
                <a:solidFill>
                  <a:schemeClr val="tx1"/>
                </a:solidFill>
              </a:rPr>
              <a:t>Baseline Model</a:t>
            </a:r>
            <a:endParaRPr lang="en-US" dirty="0"/>
          </a:p>
        </p:txBody>
      </p:sp>
      <p:sp>
        <p:nvSpPr>
          <p:cNvPr id="6" name="Text Placeholder 5"/>
          <p:cNvSpPr>
            <a:spLocks noGrp="1"/>
          </p:cNvSpPr>
          <p:nvPr>
            <p:ph type="body" idx="1"/>
          </p:nvPr>
        </p:nvSpPr>
        <p:spPr/>
        <p:txBody>
          <a:bodyPr/>
          <a:lstStyle/>
          <a:p>
            <a:r>
              <a:rPr lang="en-US" dirty="0" smtClean="0"/>
              <a:t>Conducted sentiment analysis on the IMDB review dataset.</a:t>
            </a:r>
          </a:p>
          <a:p>
            <a:r>
              <a:rPr lang="en-US" dirty="0" smtClean="0"/>
              <a:t>Used a Naive </a:t>
            </a:r>
            <a:r>
              <a:rPr lang="en-US" dirty="0" err="1" smtClean="0"/>
              <a:t>Bayes</a:t>
            </a:r>
            <a:r>
              <a:rPr lang="en-US" dirty="0" smtClean="0"/>
              <a:t> Classifier.</a:t>
            </a:r>
          </a:p>
          <a:p>
            <a:r>
              <a:rPr lang="en-US" dirty="0" smtClean="0"/>
              <a:t>Trained on the first 15,000 reviews of the training set.</a:t>
            </a:r>
          </a:p>
          <a:p>
            <a:r>
              <a:rPr lang="en-US" dirty="0" smtClean="0"/>
              <a:t>Tested on the last 10,000 reviews of the test set.</a:t>
            </a:r>
          </a:p>
          <a:p>
            <a:r>
              <a:rPr lang="en-US" dirty="0" smtClean="0"/>
              <a:t>Achieved an accuracy of </a:t>
            </a:r>
            <a:r>
              <a:rPr lang="en-US" b="1" dirty="0" smtClean="0"/>
              <a:t>85.11%</a:t>
            </a:r>
            <a:r>
              <a:rPr lang="en-US" dirty="0" smtClean="0"/>
              <a:t>.</a:t>
            </a:r>
          </a:p>
          <a:p>
            <a:pPr>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5"/>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sz="1800" b="1" dirty="0"/>
              <a:t>Objective 1 </a:t>
            </a:r>
            <a:r>
              <a:rPr lang="en-US" sz="1800" b="1" dirty="0" smtClean="0"/>
              <a:t>:-</a:t>
            </a:r>
            <a:r>
              <a:rPr lang="en-US" sz="1800" dirty="0" smtClean="0"/>
              <a:t>To implement our algorithm on the IMDB dataset, employing </a:t>
            </a:r>
            <a:r>
              <a:rPr lang="en-US" sz="1800" dirty="0" err="1" smtClean="0"/>
              <a:t>GloVe</a:t>
            </a:r>
            <a:r>
              <a:rPr lang="en-US" sz="1800" dirty="0" smtClean="0"/>
              <a:t> (50d) for privatization, and then assess its accuracy in a downstream machine learning task focusing on binary sentiment analysis.</a:t>
            </a:r>
            <a:endParaRPr sz="1800" dirty="0"/>
          </a:p>
          <a:p>
            <a:r>
              <a:rPr lang="en-US" sz="1800" b="1" dirty="0" smtClean="0"/>
              <a:t>Input :-</a:t>
            </a:r>
            <a:r>
              <a:rPr lang="en-US" sz="1800" dirty="0" smtClean="0"/>
              <a:t>IMDB dataset consisting of 25,000 reviews for training and 25,000 reviews for testing.</a:t>
            </a:r>
          </a:p>
          <a:p>
            <a:r>
              <a:rPr lang="en-US" sz="1800" b="1" dirty="0" smtClean="0"/>
              <a:t>Embedding : </a:t>
            </a:r>
            <a:r>
              <a:rPr lang="en-US" sz="1800" dirty="0" err="1" smtClean="0"/>
              <a:t>GloVe</a:t>
            </a:r>
            <a:r>
              <a:rPr lang="en-US" sz="1800" dirty="0" smtClean="0"/>
              <a:t>(50d) ,refer to table 1 for details.</a:t>
            </a:r>
            <a:endParaRPr sz="1800" dirty="0"/>
          </a:p>
          <a:p>
            <a:pPr marL="228600" lvl="0" indent="-228600" algn="l" rtl="0">
              <a:lnSpc>
                <a:spcPct val="90000"/>
              </a:lnSpc>
              <a:spcBef>
                <a:spcPts val="1000"/>
              </a:spcBef>
              <a:spcAft>
                <a:spcPts val="0"/>
              </a:spcAft>
              <a:buClr>
                <a:schemeClr val="dk1"/>
              </a:buClr>
              <a:buSzPts val="1800"/>
              <a:buChar char="•"/>
            </a:pPr>
            <a:r>
              <a:rPr lang="en-US" sz="1800" dirty="0"/>
              <a:t> </a:t>
            </a:r>
            <a:r>
              <a:rPr lang="en-US" b="1" dirty="0"/>
              <a:t>Output </a:t>
            </a:r>
            <a:r>
              <a:rPr lang="en-US" b="1" dirty="0" smtClean="0"/>
              <a:t>-:</a:t>
            </a:r>
          </a:p>
          <a:p>
            <a:r>
              <a:rPr lang="en-US" sz="2100" dirty="0" smtClean="0"/>
              <a:t>The difference in accuracy between the Baseline model and Training time accuracy is approximately 4%, which decreases to 3.7% with increasing values of 𝜖.</a:t>
            </a:r>
          </a:p>
          <a:p>
            <a:r>
              <a:rPr lang="en-US" sz="2100" dirty="0" smtClean="0"/>
              <a:t>In contrast, the difference between Baseline accuracy and Test time accuracy is 10.8%, decreasing to 8.7% as the value of 𝜖 increases.</a:t>
            </a:r>
          </a:p>
          <a:p>
            <a:r>
              <a:rPr lang="en-US" sz="2100" dirty="0" smtClean="0"/>
              <a:t>This trend confirms that utility increases as privacy guarantee decreases.</a:t>
            </a:r>
            <a:r>
              <a:rPr lang="en-US" dirty="0" smtClean="0"/>
              <a:t/>
            </a:r>
            <a:br>
              <a:rPr lang="en-US" dirty="0" smtClean="0"/>
            </a:br>
            <a:endParaRPr dirty="0"/>
          </a:p>
          <a:p>
            <a:pPr marL="228600" lvl="0" indent="-228600" algn="l" rtl="0">
              <a:lnSpc>
                <a:spcPct val="90000"/>
              </a:lnSpc>
              <a:spcBef>
                <a:spcPts val="1000"/>
              </a:spcBef>
              <a:spcAft>
                <a:spcPts val="0"/>
              </a:spcAft>
              <a:buClr>
                <a:schemeClr val="dk1"/>
              </a:buClr>
              <a:buSzPts val="1800"/>
              <a:buNone/>
            </a:pPr>
            <a:r>
              <a:rPr lang="en-US" sz="1800" b="1" dirty="0"/>
              <a:t>            </a:t>
            </a:r>
            <a:endParaRPr dirty="0"/>
          </a:p>
        </p:txBody>
      </p:sp>
      <p:sp>
        <p:nvSpPr>
          <p:cNvPr id="249" name="Google Shape;249;p25"/>
          <p:cNvSpPr txBox="1">
            <a:spLocks noGrp="1"/>
          </p:cNvSpPr>
          <p:nvPr>
            <p:ph type="title"/>
          </p:nvPr>
        </p:nvSpPr>
        <p:spPr>
          <a:xfrm>
            <a:off x="838200" y="365125"/>
            <a:ext cx="10515600" cy="1111250"/>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3200"/>
            </a:pPr>
            <a:r>
              <a:rPr lang="en-US" sz="3200" dirty="0" smtClean="0">
                <a:solidFill>
                  <a:srgbClr val="FF0000"/>
                </a:solidFill>
              </a:rPr>
              <a:t>Enhancing Privacy in Text Data: A Metric-Differential Privacy Approach. </a:t>
            </a:r>
            <a:r>
              <a:rPr lang="en-US" sz="3200" b="1" dirty="0">
                <a:solidFill>
                  <a:srgbClr val="FF0000"/>
                </a:solidFill>
              </a:rPr>
              <a:t/>
            </a:r>
            <a:br>
              <a:rPr lang="en-US" sz="3200" b="1" dirty="0">
                <a:solidFill>
                  <a:srgbClr val="FF0000"/>
                </a:solidFill>
              </a:rPr>
            </a:br>
            <a:r>
              <a:rPr lang="en-US" sz="3200" dirty="0">
                <a:solidFill>
                  <a:srgbClr val="0C0C0C"/>
                </a:solidFill>
              </a:rPr>
              <a:t>Experiment 1</a:t>
            </a:r>
            <a:endParaRPr sz="3200" b="1" dirty="0">
              <a:solidFill>
                <a:srgbClr val="0C0C0C"/>
              </a:solidFill>
            </a:endParaRPr>
          </a:p>
        </p:txBody>
      </p:sp>
      <p:sp>
        <p:nvSpPr>
          <p:cNvPr id="250" name="Google Shape;25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6"/>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Candara"/>
              <a:buNone/>
            </a:pPr>
            <a:r>
              <a:rPr lang="en-US" sz="3200" b="1">
                <a:solidFill>
                  <a:srgbClr val="FF0000"/>
                </a:solidFill>
              </a:rPr>
              <a:t>A Differential Approach To Privacy </a:t>
            </a:r>
            <a:br>
              <a:rPr lang="en-US" sz="3200" b="1">
                <a:solidFill>
                  <a:srgbClr val="FF0000"/>
                </a:solidFill>
              </a:rPr>
            </a:br>
            <a:r>
              <a:rPr lang="en-US" sz="3200">
                <a:solidFill>
                  <a:srgbClr val="0C0C0C"/>
                </a:solidFill>
              </a:rPr>
              <a:t>Experiment 1</a:t>
            </a:r>
            <a:endParaRPr sz="3200"/>
          </a:p>
        </p:txBody>
      </p:sp>
      <p:sp>
        <p:nvSpPr>
          <p:cNvPr id="256" name="Google Shape;256;p26"/>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1" dirty="0"/>
              <a:t>Result 1 </a:t>
            </a:r>
            <a:r>
              <a:rPr lang="en-US" sz="1800" b="1" dirty="0" smtClean="0"/>
              <a:t>:-</a:t>
            </a:r>
            <a:endParaRPr sz="1800" b="1" dirty="0"/>
          </a:p>
        </p:txBody>
      </p:sp>
      <p:sp>
        <p:nvSpPr>
          <p:cNvPr id="257" name="Google Shape;25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21</a:t>
            </a:fld>
            <a:endParaRPr/>
          </a:p>
        </p:txBody>
      </p:sp>
      <p:pic>
        <p:nvPicPr>
          <p:cNvPr id="258" name="Google Shape;258;p26" descr="result of experiments 1.PNG"/>
          <p:cNvPicPr preferRelativeResize="0"/>
          <p:nvPr/>
        </p:nvPicPr>
        <p:blipFill rotWithShape="1">
          <a:blip r:embed="rId3">
            <a:alphaModFix/>
          </a:blip>
          <a:srcRect r="36659"/>
          <a:stretch/>
        </p:blipFill>
        <p:spPr>
          <a:xfrm>
            <a:off x="3581401" y="2534310"/>
            <a:ext cx="4113179" cy="382204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7"/>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Candara"/>
              <a:buNone/>
            </a:pPr>
            <a:r>
              <a:rPr lang="en-US" sz="3200" b="1">
                <a:solidFill>
                  <a:srgbClr val="FF0000"/>
                </a:solidFill>
              </a:rPr>
              <a:t>A Differential Approach To Privacy </a:t>
            </a:r>
            <a:br>
              <a:rPr lang="en-US" sz="3200" b="1">
                <a:solidFill>
                  <a:srgbClr val="FF0000"/>
                </a:solidFill>
              </a:rPr>
            </a:br>
            <a:r>
              <a:rPr lang="en-US" sz="3200">
                <a:solidFill>
                  <a:srgbClr val="0C0C0C"/>
                </a:solidFill>
              </a:rPr>
              <a:t>Experiment 2</a:t>
            </a:r>
            <a:endParaRPr sz="3200"/>
          </a:p>
        </p:txBody>
      </p:sp>
      <p:sp>
        <p:nvSpPr>
          <p:cNvPr id="264" name="Google Shape;264;p27"/>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sz="1800" b="1" dirty="0"/>
              <a:t>Objective 2 </a:t>
            </a:r>
            <a:r>
              <a:rPr lang="en-US" sz="1800" b="1" dirty="0" smtClean="0"/>
              <a:t>:-</a:t>
            </a:r>
            <a:r>
              <a:rPr lang="en-US" sz="1800" dirty="0" smtClean="0"/>
              <a:t>To privatize the IMDB dataset using </a:t>
            </a:r>
            <a:r>
              <a:rPr lang="en-US" sz="1800" dirty="0" err="1" smtClean="0"/>
              <a:t>GloVe</a:t>
            </a:r>
            <a:r>
              <a:rPr lang="en-US" sz="1800" dirty="0" smtClean="0"/>
              <a:t>(300d) embeddings and evaluate the accuracy of the privatized dataset in sentiment classification on both Training time and Test time configurations.</a:t>
            </a:r>
            <a:endParaRPr dirty="0"/>
          </a:p>
          <a:p>
            <a:pPr marL="228600" lvl="0" indent="-228600"/>
            <a:r>
              <a:rPr lang="en-US" sz="1800" b="1" dirty="0"/>
              <a:t>Input </a:t>
            </a:r>
            <a:r>
              <a:rPr lang="en-US" sz="1800" b="1" dirty="0" smtClean="0"/>
              <a:t>:-</a:t>
            </a:r>
            <a:r>
              <a:rPr lang="en-US" sz="1800" dirty="0" smtClean="0"/>
              <a:t> IMDB dataset consisting of 25,000 reviews for training and 25,000 reviews for testing.</a:t>
            </a:r>
            <a:endParaRPr sz="1800" dirty="0"/>
          </a:p>
          <a:p>
            <a:pPr marL="228600" lvl="0" indent="-228600" algn="l" rtl="0">
              <a:lnSpc>
                <a:spcPct val="90000"/>
              </a:lnSpc>
              <a:spcBef>
                <a:spcPts val="1000"/>
              </a:spcBef>
              <a:spcAft>
                <a:spcPts val="0"/>
              </a:spcAft>
              <a:buClr>
                <a:schemeClr val="dk1"/>
              </a:buClr>
              <a:buSzPts val="1800"/>
              <a:buNone/>
            </a:pPr>
            <a:r>
              <a:rPr lang="en-US" sz="1800" b="1" dirty="0" smtClean="0"/>
              <a:t>                    </a:t>
            </a:r>
            <a:endParaRPr sz="1800" dirty="0"/>
          </a:p>
          <a:p>
            <a:pPr marL="228600" lvl="0" indent="-228600" algn="l" rtl="0">
              <a:lnSpc>
                <a:spcPct val="90000"/>
              </a:lnSpc>
              <a:spcBef>
                <a:spcPts val="1000"/>
              </a:spcBef>
              <a:spcAft>
                <a:spcPts val="0"/>
              </a:spcAft>
              <a:buClr>
                <a:schemeClr val="dk1"/>
              </a:buClr>
              <a:buSzPts val="1800"/>
              <a:buChar char="•"/>
            </a:pPr>
            <a:r>
              <a:rPr lang="en-US" sz="1800" dirty="0"/>
              <a:t> </a:t>
            </a:r>
            <a:r>
              <a:rPr lang="en-US" b="1" dirty="0"/>
              <a:t>Output </a:t>
            </a:r>
            <a:r>
              <a:rPr lang="en-US" b="1" dirty="0" smtClean="0"/>
              <a:t>:-</a:t>
            </a:r>
          </a:p>
          <a:p>
            <a:r>
              <a:rPr lang="en-US" sz="1800" dirty="0" smtClean="0"/>
              <a:t>The difference in accuracy between the Baseline model and Training time accuracy is significant at 23.83%, which decreases to 2.96% with increasing values of 𝜖.</a:t>
            </a:r>
          </a:p>
          <a:p>
            <a:r>
              <a:rPr lang="en-US" sz="1800" dirty="0" smtClean="0"/>
              <a:t>In contrast, the difference between Baseline accuracy and Test time accuracy is 30.79%, decreasing to 7.34% as the value of 𝜖 increases.</a:t>
            </a:r>
          </a:p>
          <a:p>
            <a:r>
              <a:rPr lang="en-US" sz="1800" dirty="0" smtClean="0"/>
              <a:t>This trend confirms that utility increases as privacy guarantee decreases.</a:t>
            </a:r>
          </a:p>
          <a:p>
            <a:pPr marL="228600" lvl="0" indent="-228600" algn="l" rtl="0">
              <a:lnSpc>
                <a:spcPct val="90000"/>
              </a:lnSpc>
              <a:spcBef>
                <a:spcPts val="1000"/>
              </a:spcBef>
              <a:spcAft>
                <a:spcPts val="0"/>
              </a:spcAft>
              <a:buClr>
                <a:schemeClr val="dk1"/>
              </a:buClr>
              <a:buSzPts val="1800"/>
              <a:buChar char="•"/>
            </a:pPr>
            <a:endParaRPr dirty="0"/>
          </a:p>
          <a:p>
            <a:pPr marL="228600" lvl="0" indent="-114300" algn="l" rtl="0">
              <a:lnSpc>
                <a:spcPct val="90000"/>
              </a:lnSpc>
              <a:spcBef>
                <a:spcPts val="1000"/>
              </a:spcBef>
              <a:spcAft>
                <a:spcPts val="0"/>
              </a:spcAft>
              <a:buClr>
                <a:schemeClr val="dk1"/>
              </a:buClr>
              <a:buSzPts val="1800"/>
              <a:buNone/>
            </a:pPr>
            <a:endParaRPr sz="1800" dirty="0"/>
          </a:p>
        </p:txBody>
      </p:sp>
      <p:sp>
        <p:nvSpPr>
          <p:cNvPr id="265" name="Google Shape;26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22</a:t>
            </a:fld>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8"/>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Candara"/>
              <a:buNone/>
            </a:pPr>
            <a:r>
              <a:rPr lang="en-US" sz="3200" b="1">
                <a:solidFill>
                  <a:srgbClr val="FF0000"/>
                </a:solidFill>
              </a:rPr>
              <a:t>A Differential Approach To Privacy </a:t>
            </a:r>
            <a:br>
              <a:rPr lang="en-US" sz="3200" b="1">
                <a:solidFill>
                  <a:srgbClr val="FF0000"/>
                </a:solidFill>
              </a:rPr>
            </a:br>
            <a:r>
              <a:rPr lang="en-US" sz="3200">
                <a:solidFill>
                  <a:srgbClr val="0C0C0C"/>
                </a:solidFill>
              </a:rPr>
              <a:t>Experiment 2</a:t>
            </a:r>
            <a:endParaRPr sz="3200"/>
          </a:p>
        </p:txBody>
      </p:sp>
      <p:sp>
        <p:nvSpPr>
          <p:cNvPr id="271" name="Google Shape;271;p28"/>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1"/>
              <a:t>Result 2 :- </a:t>
            </a:r>
            <a:r>
              <a:rPr lang="en-US" sz="1800"/>
              <a:t>Outputs of Global Differential Privacy does not depends on size of dataset.</a:t>
            </a:r>
            <a:endParaRPr sz="1800" b="1"/>
          </a:p>
          <a:p>
            <a:pPr marL="228600" lvl="0" indent="-114300" algn="l" rtl="0">
              <a:lnSpc>
                <a:spcPct val="90000"/>
              </a:lnSpc>
              <a:spcBef>
                <a:spcPts val="1000"/>
              </a:spcBef>
              <a:spcAft>
                <a:spcPts val="0"/>
              </a:spcAft>
              <a:buClr>
                <a:schemeClr val="dk1"/>
              </a:buClr>
              <a:buSzPts val="1800"/>
              <a:buNone/>
            </a:pPr>
            <a:endParaRPr sz="1800"/>
          </a:p>
        </p:txBody>
      </p:sp>
      <p:sp>
        <p:nvSpPr>
          <p:cNvPr id="272" name="Google Shape;27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23</a:t>
            </a:fld>
            <a:endParaRPr/>
          </a:p>
        </p:txBody>
      </p:sp>
      <p:pic>
        <p:nvPicPr>
          <p:cNvPr id="273" name="Google Shape;273;p28" descr="Experiment 2 mean query.PNG"/>
          <p:cNvPicPr preferRelativeResize="0"/>
          <p:nvPr/>
        </p:nvPicPr>
        <p:blipFill rotWithShape="1">
          <a:blip r:embed="rId3">
            <a:alphaModFix/>
          </a:blip>
          <a:srcRect r="15229"/>
          <a:stretch/>
        </p:blipFill>
        <p:spPr>
          <a:xfrm>
            <a:off x="6265002" y="2440228"/>
            <a:ext cx="4347875" cy="3190742"/>
          </a:xfrm>
          <a:prstGeom prst="rect">
            <a:avLst/>
          </a:prstGeom>
          <a:noFill/>
          <a:ln w="9525" cap="flat" cmpd="sng">
            <a:solidFill>
              <a:srgbClr val="0C0C0C"/>
            </a:solidFill>
            <a:prstDash val="solid"/>
            <a:round/>
            <a:headEnd type="none" w="sm" len="sm"/>
            <a:tailEnd type="none" w="sm" len="sm"/>
          </a:ln>
        </p:spPr>
      </p:pic>
      <p:pic>
        <p:nvPicPr>
          <p:cNvPr id="274" name="Google Shape;274;p28" descr="Experiment 2 sum query result.PNG"/>
          <p:cNvPicPr preferRelativeResize="0"/>
          <p:nvPr/>
        </p:nvPicPr>
        <p:blipFill rotWithShape="1">
          <a:blip r:embed="rId4">
            <a:alphaModFix/>
          </a:blip>
          <a:srcRect l="2504" r="11416"/>
          <a:stretch/>
        </p:blipFill>
        <p:spPr>
          <a:xfrm>
            <a:off x="1205299" y="2440228"/>
            <a:ext cx="4176000" cy="3269808"/>
          </a:xfrm>
          <a:prstGeom prst="rect">
            <a:avLst/>
          </a:prstGeom>
          <a:noFill/>
          <a:ln w="9525" cap="flat" cmpd="sng">
            <a:solidFill>
              <a:srgbClr val="0C0C0C"/>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9"/>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Candara"/>
              <a:buNone/>
            </a:pPr>
            <a:r>
              <a:rPr lang="en-US" sz="3200" b="1">
                <a:solidFill>
                  <a:srgbClr val="FF0000"/>
                </a:solidFill>
              </a:rPr>
              <a:t>A Differential Approach To Privacy </a:t>
            </a:r>
            <a:br>
              <a:rPr lang="en-US" sz="3200" b="1">
                <a:solidFill>
                  <a:srgbClr val="FF0000"/>
                </a:solidFill>
              </a:rPr>
            </a:br>
            <a:r>
              <a:rPr lang="en-US" sz="3200">
                <a:solidFill>
                  <a:srgbClr val="0C0C0C"/>
                </a:solidFill>
              </a:rPr>
              <a:t>Experiment 3</a:t>
            </a:r>
            <a:endParaRPr sz="3200"/>
          </a:p>
        </p:txBody>
      </p:sp>
      <p:sp>
        <p:nvSpPr>
          <p:cNvPr id="280" name="Google Shape;280;p29"/>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sz="1800" b="1" dirty="0"/>
              <a:t>Objective 3</a:t>
            </a:r>
            <a:r>
              <a:rPr lang="en-US" sz="1800" dirty="0" smtClean="0"/>
              <a:t>: To draw the epsilon </a:t>
            </a:r>
            <a:r>
              <a:rPr lang="en-US" sz="1800" dirty="0" err="1" smtClean="0"/>
              <a:t>vs</a:t>
            </a:r>
            <a:r>
              <a:rPr lang="en-US" sz="1800" dirty="0" smtClean="0"/>
              <a:t> accuracy plot showing the relationship between accuracy and epsilon for both </a:t>
            </a:r>
            <a:r>
              <a:rPr lang="en-US" sz="1800" dirty="0" err="1" smtClean="0"/>
              <a:t>GloVe</a:t>
            </a:r>
            <a:r>
              <a:rPr lang="en-US" sz="1800" dirty="0" smtClean="0"/>
              <a:t> (50d) and </a:t>
            </a:r>
            <a:r>
              <a:rPr lang="en-US" sz="1800" dirty="0" err="1" smtClean="0"/>
              <a:t>GloVe</a:t>
            </a:r>
            <a:r>
              <a:rPr lang="en-US" sz="1800" dirty="0" smtClean="0"/>
              <a:t> (300d) embeddings, visualizing the trade-off between privacy and utility and comparing it with the accuracy of the baseline model.</a:t>
            </a:r>
            <a:endParaRPr lang="en-US" dirty="0"/>
          </a:p>
          <a:p>
            <a:pPr marL="228600" lvl="0" indent="-228600">
              <a:spcBef>
                <a:spcPts val="0"/>
              </a:spcBef>
            </a:pPr>
            <a:r>
              <a:rPr lang="en-US" sz="1800" b="1" dirty="0" smtClean="0"/>
              <a:t>Input:</a:t>
            </a:r>
            <a:r>
              <a:rPr lang="en-US" sz="1800" dirty="0" smtClean="0"/>
              <a:t> Various values of  𝜖 and the corresponding accuracies for training and test times. </a:t>
            </a:r>
            <a:r>
              <a:rPr lang="en-US" sz="1800" b="1" dirty="0" smtClean="0"/>
              <a:t>                  </a:t>
            </a:r>
            <a:endParaRPr sz="1800" dirty="0"/>
          </a:p>
          <a:p>
            <a:pPr marL="228600" lvl="0" indent="-228600" algn="l" rtl="0">
              <a:lnSpc>
                <a:spcPct val="90000"/>
              </a:lnSpc>
              <a:spcBef>
                <a:spcPts val="1000"/>
              </a:spcBef>
              <a:spcAft>
                <a:spcPts val="0"/>
              </a:spcAft>
              <a:buClr>
                <a:schemeClr val="dk1"/>
              </a:buClr>
              <a:buSzPts val="1800"/>
              <a:buChar char="•"/>
            </a:pPr>
            <a:r>
              <a:rPr lang="en-US" sz="1800" dirty="0"/>
              <a:t> </a:t>
            </a:r>
            <a:r>
              <a:rPr lang="en-US" b="1" dirty="0"/>
              <a:t>Output </a:t>
            </a:r>
            <a:r>
              <a:rPr lang="en-US" b="1" dirty="0" smtClean="0"/>
              <a:t>:-</a:t>
            </a:r>
          </a:p>
          <a:p>
            <a:r>
              <a:rPr lang="en-US" sz="1900" dirty="0" smtClean="0"/>
              <a:t>For both </a:t>
            </a:r>
            <a:r>
              <a:rPr lang="en-US" sz="1900" dirty="0" err="1" smtClean="0"/>
              <a:t>GloVe</a:t>
            </a:r>
            <a:r>
              <a:rPr lang="en-US" sz="1900" dirty="0" smtClean="0"/>
              <a:t> (50d) and </a:t>
            </a:r>
            <a:r>
              <a:rPr lang="en-US" sz="1900" dirty="0" err="1" smtClean="0"/>
              <a:t>GloVe</a:t>
            </a:r>
            <a:r>
              <a:rPr lang="en-US" sz="1900" dirty="0" smtClean="0"/>
              <a:t> (300d), the test time accuracies are lower than the training time accuracies, indicating that the models perform better when trained on the privatized data compared to when trained on non-privatized data.</a:t>
            </a:r>
          </a:p>
          <a:p>
            <a:r>
              <a:rPr lang="en-US" sz="1900" dirty="0" smtClean="0"/>
              <a:t>The accuracies generally increase with higher epsilon values, indicating that as the privacy guarantee decreases, the utility of the models increases as expected.</a:t>
            </a:r>
          </a:p>
          <a:p>
            <a:r>
              <a:rPr lang="en-US" sz="1900" dirty="0" smtClean="0"/>
              <a:t>The accuracies of </a:t>
            </a:r>
            <a:r>
              <a:rPr lang="en-US" sz="1900" dirty="0" err="1" smtClean="0"/>
              <a:t>GloVe</a:t>
            </a:r>
            <a:r>
              <a:rPr lang="en-US" sz="1900" dirty="0" smtClean="0"/>
              <a:t> (300d) are generally higher than those of </a:t>
            </a:r>
            <a:r>
              <a:rPr lang="en-US" sz="1900" dirty="0" err="1" smtClean="0"/>
              <a:t>GloVe</a:t>
            </a:r>
            <a:r>
              <a:rPr lang="en-US" sz="1900" dirty="0" smtClean="0"/>
              <a:t> (50d), suggesting that the 300-dimensional embeddings capture more nuanced semantic information than the 50-dimensional embeddings.</a:t>
            </a:r>
          </a:p>
          <a:p>
            <a:pPr marL="228600" lvl="0" indent="-228600" algn="l" rtl="0">
              <a:lnSpc>
                <a:spcPct val="90000"/>
              </a:lnSpc>
              <a:spcBef>
                <a:spcPts val="1000"/>
              </a:spcBef>
              <a:spcAft>
                <a:spcPts val="0"/>
              </a:spcAft>
              <a:buClr>
                <a:schemeClr val="dk1"/>
              </a:buClr>
              <a:buSzPts val="1800"/>
              <a:buChar char="•"/>
            </a:pPr>
            <a:endParaRPr b="1" dirty="0"/>
          </a:p>
          <a:p>
            <a:pPr marL="228600" lvl="0" indent="-114300" algn="l" rtl="0">
              <a:lnSpc>
                <a:spcPct val="90000"/>
              </a:lnSpc>
              <a:spcBef>
                <a:spcPts val="1000"/>
              </a:spcBef>
              <a:spcAft>
                <a:spcPts val="0"/>
              </a:spcAft>
              <a:buClr>
                <a:schemeClr val="dk1"/>
              </a:buClr>
              <a:buSzPts val="1800"/>
              <a:buNone/>
            </a:pPr>
            <a:endParaRPr sz="1800" dirty="0"/>
          </a:p>
        </p:txBody>
      </p:sp>
      <p:sp>
        <p:nvSpPr>
          <p:cNvPr id="281" name="Google Shape;28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24</a:t>
            </a:fld>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0"/>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Candara"/>
              <a:buNone/>
            </a:pPr>
            <a:r>
              <a:rPr lang="en-US" sz="3200" b="1">
                <a:solidFill>
                  <a:srgbClr val="FF0000"/>
                </a:solidFill>
              </a:rPr>
              <a:t>A Differential Approach To Privacy </a:t>
            </a:r>
            <a:br>
              <a:rPr lang="en-US" sz="3200" b="1">
                <a:solidFill>
                  <a:srgbClr val="FF0000"/>
                </a:solidFill>
              </a:rPr>
            </a:br>
            <a:r>
              <a:rPr lang="en-US" sz="3200">
                <a:solidFill>
                  <a:srgbClr val="0C0C0C"/>
                </a:solidFill>
              </a:rPr>
              <a:t>Experiment 3</a:t>
            </a:r>
            <a:endParaRPr sz="3200"/>
          </a:p>
        </p:txBody>
      </p:sp>
      <p:sp>
        <p:nvSpPr>
          <p:cNvPr id="287" name="Google Shape;287;p30"/>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b="1"/>
              <a:t>Result 3 :-</a:t>
            </a:r>
            <a:endParaRPr/>
          </a:p>
          <a:p>
            <a:pPr marL="228600" lvl="0" indent="-228600" algn="l" rtl="0">
              <a:lnSpc>
                <a:spcPct val="90000"/>
              </a:lnSpc>
              <a:spcBef>
                <a:spcPts val="1000"/>
              </a:spcBef>
              <a:spcAft>
                <a:spcPts val="0"/>
              </a:spcAft>
              <a:buClr>
                <a:schemeClr val="dk1"/>
              </a:buClr>
              <a:buSzPts val="2400"/>
              <a:buChar char="•"/>
            </a:pPr>
            <a:r>
              <a:rPr lang="en-US"/>
              <a:t>The accuracy of Private Decision Tree increases with increase in </a:t>
            </a:r>
            <a:r>
              <a:rPr lang="en-US" b="1"/>
              <a:t>maxdepth.</a:t>
            </a:r>
            <a:endParaRPr/>
          </a:p>
          <a:p>
            <a:pPr marL="228600" lvl="0" indent="-228600" algn="l" rtl="0">
              <a:lnSpc>
                <a:spcPct val="90000"/>
              </a:lnSpc>
              <a:spcBef>
                <a:spcPts val="1000"/>
              </a:spcBef>
              <a:spcAft>
                <a:spcPts val="0"/>
              </a:spcAft>
              <a:buClr>
                <a:schemeClr val="dk1"/>
              </a:buClr>
              <a:buSzPts val="2400"/>
              <a:buChar char="•"/>
            </a:pPr>
            <a:r>
              <a:rPr lang="en-US"/>
              <a:t>With increase in values of </a:t>
            </a:r>
            <a:r>
              <a:rPr lang="en-US" b="1"/>
              <a:t>epsilon</a:t>
            </a:r>
            <a:r>
              <a:rPr lang="en-US"/>
              <a:t>, accuracy of Private Decision Tree increases.</a:t>
            </a:r>
            <a:endParaRPr/>
          </a:p>
          <a:p>
            <a:pPr marL="228600" lvl="0" indent="-228600" algn="l" rtl="0">
              <a:lnSpc>
                <a:spcPct val="90000"/>
              </a:lnSpc>
              <a:spcBef>
                <a:spcPts val="1000"/>
              </a:spcBef>
              <a:spcAft>
                <a:spcPts val="0"/>
              </a:spcAft>
              <a:buClr>
                <a:schemeClr val="dk1"/>
              </a:buClr>
              <a:buSzPts val="2400"/>
              <a:buChar char="•"/>
            </a:pPr>
            <a:r>
              <a:rPr lang="en-US"/>
              <a:t>There is a tradeoff between accuracy and Privacy Leakage in DPDT. </a:t>
            </a:r>
            <a:endParaRPr b="1"/>
          </a:p>
          <a:p>
            <a:pPr marL="228600" lvl="0" indent="-76200" algn="l" rtl="0">
              <a:lnSpc>
                <a:spcPct val="90000"/>
              </a:lnSpc>
              <a:spcBef>
                <a:spcPts val="1000"/>
              </a:spcBef>
              <a:spcAft>
                <a:spcPts val="0"/>
              </a:spcAft>
              <a:buClr>
                <a:schemeClr val="dk1"/>
              </a:buClr>
              <a:buSzPts val="2400"/>
              <a:buNone/>
            </a:pPr>
            <a:endParaRPr/>
          </a:p>
        </p:txBody>
      </p:sp>
      <p:sp>
        <p:nvSpPr>
          <p:cNvPr id="288" name="Google Shape;288;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25</a:t>
            </a:fld>
            <a:endParaRPr/>
          </a:p>
        </p:txBody>
      </p:sp>
      <p:pic>
        <p:nvPicPr>
          <p:cNvPr id="289" name="Google Shape;289;p30" descr="Experiment 3 Accuracy vs max_depth.PNG"/>
          <p:cNvPicPr preferRelativeResize="0"/>
          <p:nvPr/>
        </p:nvPicPr>
        <p:blipFill rotWithShape="1">
          <a:blip r:embed="rId3">
            <a:alphaModFix/>
          </a:blip>
          <a:srcRect l="-1525" r="9676"/>
          <a:stretch/>
        </p:blipFill>
        <p:spPr>
          <a:xfrm>
            <a:off x="982494" y="3541984"/>
            <a:ext cx="4980561" cy="2950889"/>
          </a:xfrm>
          <a:prstGeom prst="rect">
            <a:avLst/>
          </a:prstGeom>
          <a:noFill/>
          <a:ln w="9525" cap="flat" cmpd="sng">
            <a:solidFill>
              <a:schemeClr val="dk1"/>
            </a:solidFill>
            <a:prstDash val="solid"/>
            <a:round/>
            <a:headEnd type="none" w="sm" len="sm"/>
            <a:tailEnd type="none" w="sm" len="sm"/>
          </a:ln>
        </p:spPr>
      </p:pic>
      <p:pic>
        <p:nvPicPr>
          <p:cNvPr id="290" name="Google Shape;290;p30" descr="Experiment 3 Accuracy vs epsilon.PNG"/>
          <p:cNvPicPr preferRelativeResize="0"/>
          <p:nvPr/>
        </p:nvPicPr>
        <p:blipFill rotWithShape="1">
          <a:blip r:embed="rId4">
            <a:alphaModFix/>
          </a:blip>
          <a:srcRect r="30538"/>
          <a:stretch/>
        </p:blipFill>
        <p:spPr>
          <a:xfrm>
            <a:off x="6616485" y="3571222"/>
            <a:ext cx="4339495" cy="2921652"/>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1"/>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Candara"/>
              <a:buNone/>
            </a:pPr>
            <a:r>
              <a:rPr lang="en-US" sz="3200" b="1" dirty="0">
                <a:solidFill>
                  <a:srgbClr val="FF0000"/>
                </a:solidFill>
              </a:rPr>
              <a:t>A Differential Approach To Privacy </a:t>
            </a:r>
            <a:br>
              <a:rPr lang="en-US" sz="3200" b="1" dirty="0">
                <a:solidFill>
                  <a:srgbClr val="FF0000"/>
                </a:solidFill>
              </a:rPr>
            </a:br>
            <a:r>
              <a:rPr lang="en-US" sz="3200" dirty="0" smtClean="0"/>
              <a:t>Conclusion.</a:t>
            </a:r>
            <a:endParaRPr dirty="0"/>
          </a:p>
        </p:txBody>
      </p:sp>
      <p:sp>
        <p:nvSpPr>
          <p:cNvPr id="296" name="Google Shape;296;p31"/>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r>
              <a:rPr lang="en-US" dirty="0" smtClean="0"/>
              <a:t>The proposed algorithm offers increased privacy at the expense of reduced utility, making it suitable for privatizing information or data.</a:t>
            </a:r>
          </a:p>
          <a:p>
            <a:r>
              <a:rPr lang="en-US" dirty="0" smtClean="0"/>
              <a:t>A clear trade-off between privacy and utility is observed, where higher epsilon values result in higher accuracies but lower privacy guarantees.</a:t>
            </a:r>
          </a:p>
          <a:p>
            <a:r>
              <a:rPr lang="en-US" dirty="0" err="1" smtClean="0"/>
              <a:t>GloVe</a:t>
            </a:r>
            <a:r>
              <a:rPr lang="en-US" dirty="0" smtClean="0"/>
              <a:t> (300d) embeddings generally outperform </a:t>
            </a:r>
            <a:r>
              <a:rPr lang="en-US" dirty="0" err="1" smtClean="0"/>
              <a:t>GloVe</a:t>
            </a:r>
            <a:r>
              <a:rPr lang="en-US" dirty="0" smtClean="0"/>
              <a:t> (50d) embeddings in terms of accuracy.</a:t>
            </a:r>
          </a:p>
          <a:p>
            <a:pPr marL="228600" lvl="0" indent="-228600" algn="l" rtl="0">
              <a:lnSpc>
                <a:spcPct val="90000"/>
              </a:lnSpc>
              <a:spcBef>
                <a:spcPts val="0"/>
              </a:spcBef>
              <a:spcAft>
                <a:spcPts val="0"/>
              </a:spcAft>
              <a:buClr>
                <a:schemeClr val="dk1"/>
              </a:buClr>
              <a:buSzPts val="1800"/>
              <a:buChar char="•"/>
            </a:pPr>
            <a:endParaRPr dirty="0"/>
          </a:p>
        </p:txBody>
      </p:sp>
      <p:sp>
        <p:nvSpPr>
          <p:cNvPr id="297" name="Google Shape;29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26</a:t>
            </a:fld>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2"/>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ndara"/>
              <a:buNone/>
            </a:pPr>
            <a:r>
              <a:rPr lang="en-US"/>
              <a:t>Future Direction</a:t>
            </a:r>
            <a:endParaRPr/>
          </a:p>
        </p:txBody>
      </p:sp>
      <p:sp>
        <p:nvSpPr>
          <p:cNvPr id="303" name="Google Shape;303;p32"/>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p>
            <a:r>
              <a:rPr lang="en-US" dirty="0" smtClean="0"/>
              <a:t>Future work can include evaluating the impact of our modifications on the values of 𝑁𝑊 to quantify the improvement in privacy more effectively.</a:t>
            </a:r>
          </a:p>
          <a:p>
            <a:r>
              <a:rPr lang="en-US" dirty="0" smtClean="0"/>
              <a:t>Furthermore, assessing the performance of this algorithm on other embeddings such as </a:t>
            </a:r>
            <a:r>
              <a:rPr lang="en-US" dirty="0" err="1" smtClean="0"/>
              <a:t>ELMo</a:t>
            </a:r>
            <a:r>
              <a:rPr lang="en-US" dirty="0" smtClean="0"/>
              <a:t>, Gilbert, etc., will help understand its suitability and limitations.</a:t>
            </a:r>
          </a:p>
          <a:p>
            <a:pPr marL="228600" lvl="0" indent="-228600" algn="l" rtl="0">
              <a:lnSpc>
                <a:spcPct val="90000"/>
              </a:lnSpc>
              <a:spcBef>
                <a:spcPts val="0"/>
              </a:spcBef>
              <a:spcAft>
                <a:spcPts val="0"/>
              </a:spcAft>
              <a:buClr>
                <a:schemeClr val="dk1"/>
              </a:buClr>
              <a:buSzPts val="1800"/>
              <a:buChar char="•"/>
            </a:pPr>
            <a:endParaRPr dirty="0"/>
          </a:p>
        </p:txBody>
      </p:sp>
      <p:sp>
        <p:nvSpPr>
          <p:cNvPr id="304" name="Google Shape;30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27</a:t>
            </a:fld>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3"/>
          <p:cNvSpPr txBox="1">
            <a:spLocks noGrp="1"/>
          </p:cNvSpPr>
          <p:nvPr>
            <p:ph type="title"/>
          </p:nvPr>
        </p:nvSpPr>
        <p:spPr>
          <a:xfrm>
            <a:off x="838200" y="365126"/>
            <a:ext cx="10515600" cy="11112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ndara"/>
              <a:buNone/>
            </a:pPr>
            <a:r>
              <a:rPr lang="en-US"/>
              <a:t>Timeline</a:t>
            </a:r>
            <a:endParaRPr/>
          </a:p>
        </p:txBody>
      </p:sp>
      <p:sp>
        <p:nvSpPr>
          <p:cNvPr id="310" name="Google Shape;31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28</a:t>
            </a:fld>
            <a:endParaRPr/>
          </a:p>
        </p:txBody>
      </p:sp>
      <p:graphicFrame>
        <p:nvGraphicFramePr>
          <p:cNvPr id="311" name="Google Shape;311;p33"/>
          <p:cNvGraphicFramePr/>
          <p:nvPr/>
        </p:nvGraphicFramePr>
        <p:xfrm>
          <a:off x="838199" y="1652150"/>
          <a:ext cx="9213850" cy="4343680"/>
        </p:xfrm>
        <a:graphic>
          <a:graphicData uri="http://schemas.openxmlformats.org/drawingml/2006/table">
            <a:tbl>
              <a:tblPr firstRow="1" bandRow="1">
                <a:noFill/>
                <a:tableStyleId>{0CC7C1A9-6590-4DB6-B516-8E1C2172B04F}</a:tableStyleId>
              </a:tblPr>
              <a:tblGrid>
                <a:gridCol w="2099200"/>
                <a:gridCol w="731325"/>
                <a:gridCol w="641275"/>
                <a:gridCol w="689375"/>
                <a:gridCol w="737725"/>
                <a:gridCol w="674150"/>
                <a:gridCol w="659725"/>
                <a:gridCol w="647675"/>
                <a:gridCol w="767300"/>
                <a:gridCol w="688250"/>
                <a:gridCol w="877850"/>
              </a:tblGrid>
              <a:tr h="515000">
                <a:tc>
                  <a:txBody>
                    <a:bodyPr/>
                    <a:lstStyle/>
                    <a:p>
                      <a:pPr marL="0" marR="0" lvl="0" indent="0" algn="ctr" rtl="0">
                        <a:spcBef>
                          <a:spcPts val="0"/>
                        </a:spcBef>
                        <a:spcAft>
                          <a:spcPts val="0"/>
                        </a:spcAft>
                        <a:buNone/>
                      </a:pPr>
                      <a:r>
                        <a:rPr lang="en-US" sz="1400" u="none" strike="noStrike" cap="none">
                          <a:solidFill>
                            <a:schemeClr val="lt1"/>
                          </a:solidFill>
                        </a:rPr>
                        <a:t>TASK</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AUG 23</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SEP 23</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OCT 23</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NOV 23</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DEC 23</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JAN 24</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FEB 24</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MAR 24</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APR 24</a:t>
                      </a:r>
                      <a:endParaRPr/>
                    </a:p>
                  </a:txBody>
                  <a:tcPr marL="91450" marR="91450" marT="45725" marB="45725" anchor="ctr">
                    <a:solidFill>
                      <a:srgbClr val="2F5496"/>
                    </a:solidFill>
                  </a:tcPr>
                </a:tc>
                <a:tc>
                  <a:txBody>
                    <a:bodyPr/>
                    <a:lstStyle/>
                    <a:p>
                      <a:pPr marL="0" marR="0" lvl="0" indent="0" algn="ctr" rtl="0">
                        <a:spcBef>
                          <a:spcPts val="0"/>
                        </a:spcBef>
                        <a:spcAft>
                          <a:spcPts val="0"/>
                        </a:spcAft>
                        <a:buNone/>
                      </a:pPr>
                      <a:r>
                        <a:rPr lang="en-US" sz="1400" u="none" strike="noStrike" cap="none">
                          <a:solidFill>
                            <a:schemeClr val="lt1"/>
                          </a:solidFill>
                        </a:rPr>
                        <a:t>MAY 24</a:t>
                      </a:r>
                      <a:endParaRPr/>
                    </a:p>
                  </a:txBody>
                  <a:tcPr marL="91450" marR="91450" marT="45725" marB="45725" anchor="ctr">
                    <a:solidFill>
                      <a:srgbClr val="2F5496"/>
                    </a:solidFill>
                  </a:tcPr>
                </a:tc>
              </a:tr>
              <a:tr h="432575">
                <a:tc>
                  <a:txBody>
                    <a:bodyPr/>
                    <a:lstStyle/>
                    <a:p>
                      <a:pPr marL="0" marR="0" lvl="0" indent="0" algn="ctr" rtl="0">
                        <a:spcBef>
                          <a:spcPts val="0"/>
                        </a:spcBef>
                        <a:spcAft>
                          <a:spcPts val="0"/>
                        </a:spcAft>
                        <a:buNone/>
                      </a:pPr>
                      <a:r>
                        <a:rPr lang="en-US" sz="1400" u="none" strike="noStrike" cap="none"/>
                        <a:t>Review of PPDM Techniques.</a:t>
                      </a:r>
                      <a:endParaRPr/>
                    </a:p>
                  </a:txBody>
                  <a:tcPr marL="91450" marR="91450" marT="45725" marB="45725" anchor="ctr"/>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r>
              <a:tr h="432575">
                <a:tc>
                  <a:txBody>
                    <a:bodyPr/>
                    <a:lstStyle/>
                    <a:p>
                      <a:pPr marL="0" marR="0" lvl="0" indent="0" algn="ctr" rtl="0">
                        <a:spcBef>
                          <a:spcPts val="0"/>
                        </a:spcBef>
                        <a:spcAft>
                          <a:spcPts val="0"/>
                        </a:spcAft>
                        <a:buNone/>
                      </a:pPr>
                      <a:r>
                        <a:rPr lang="en-US" sz="1400" u="none" strike="noStrike" cap="none"/>
                        <a:t>Implementing LDP,GDP and DPDT</a:t>
                      </a:r>
                      <a:endParaRPr sz="1400" u="none" strike="noStrike" cap="none"/>
                    </a:p>
                  </a:txBody>
                  <a:tcPr marL="91450" marR="91450" marT="45725" marB="45725" anchor="ctr"/>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r>
              <a:tr h="757000">
                <a:tc>
                  <a:txBody>
                    <a:bodyPr/>
                    <a:lstStyle/>
                    <a:p>
                      <a:pPr marL="0" marR="0" lvl="0" indent="0" algn="ctr" rtl="0">
                        <a:spcBef>
                          <a:spcPts val="0"/>
                        </a:spcBef>
                        <a:spcAft>
                          <a:spcPts val="0"/>
                        </a:spcAft>
                        <a:buNone/>
                      </a:pPr>
                      <a:r>
                        <a:rPr lang="en-US" sz="1400" u="none" strike="noStrike" cap="none"/>
                        <a:t>Extending DP to NLP.</a:t>
                      </a:r>
                      <a:endParaRPr sz="1400" u="none" strike="noStrike" cap="none"/>
                    </a:p>
                  </a:txBody>
                  <a:tcPr marL="91450" marR="91450" marT="45725" marB="45725" anchor="ctr"/>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r>
              <a:tr h="757000">
                <a:tc>
                  <a:txBody>
                    <a:bodyPr/>
                    <a:lstStyle/>
                    <a:p>
                      <a:pPr marL="0" marR="0" lvl="0" indent="0" algn="ctr" rtl="0">
                        <a:spcBef>
                          <a:spcPts val="0"/>
                        </a:spcBef>
                        <a:spcAft>
                          <a:spcPts val="0"/>
                        </a:spcAft>
                        <a:buNone/>
                      </a:pPr>
                      <a:r>
                        <a:rPr lang="en-US" sz="1400" u="none" strike="noStrike" cap="none"/>
                        <a:t>Submission of thesis for publication.</a:t>
                      </a:r>
                      <a:endParaRPr sz="1400" u="none" strike="noStrike" cap="none"/>
                    </a:p>
                  </a:txBody>
                  <a:tcPr marL="91450" marR="91450" marT="45725" marB="45725" anchor="ctr"/>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r>
              <a:tr h="757000">
                <a:tc>
                  <a:txBody>
                    <a:bodyPr/>
                    <a:lstStyle/>
                    <a:p>
                      <a:pPr marL="0" marR="0" lvl="0" indent="0" algn="ctr" rtl="0">
                        <a:lnSpc>
                          <a:spcPct val="100000"/>
                        </a:lnSpc>
                        <a:spcBef>
                          <a:spcPts val="0"/>
                        </a:spcBef>
                        <a:spcAft>
                          <a:spcPts val="0"/>
                        </a:spcAft>
                        <a:buClr>
                          <a:schemeClr val="dk1"/>
                        </a:buClr>
                        <a:buSzPts val="1400"/>
                        <a:buFont typeface="Calibri"/>
                        <a:buNone/>
                      </a:pPr>
                      <a:r>
                        <a:rPr lang="en-US" sz="1400" u="none" strike="noStrike" cap="none"/>
                        <a:t>REPROT WRITING</a:t>
                      </a:r>
                      <a:endParaRPr/>
                    </a:p>
                  </a:txBody>
                  <a:tcPr marL="91450" marR="91450" marT="45725" marB="45725" anchor="ctr"/>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r>
              <a:tr h="432575">
                <a:tc>
                  <a:txBody>
                    <a:bodyPr/>
                    <a:lstStyle/>
                    <a:p>
                      <a:pPr marL="0" marR="0" lvl="0" indent="0" algn="ctr" rtl="0">
                        <a:lnSpc>
                          <a:spcPct val="100000"/>
                        </a:lnSpc>
                        <a:spcBef>
                          <a:spcPts val="0"/>
                        </a:spcBef>
                        <a:spcAft>
                          <a:spcPts val="0"/>
                        </a:spcAft>
                        <a:buClr>
                          <a:schemeClr val="dk1"/>
                        </a:buClr>
                        <a:buSzPts val="1400"/>
                        <a:buFont typeface="Calibri"/>
                        <a:buNone/>
                      </a:pPr>
                      <a:r>
                        <a:rPr lang="en-US" sz="1400" u="none" strike="noStrike" cap="none"/>
                        <a:t>Final MTP Presentation.</a:t>
                      </a:r>
                      <a:endParaRPr sz="1400" u="none" strike="noStrike" cap="none"/>
                    </a:p>
                    <a:p>
                      <a:pPr marL="0" marR="0" lvl="0" indent="0" algn="ctr" rtl="0">
                        <a:spcBef>
                          <a:spcPts val="0"/>
                        </a:spcBef>
                        <a:spcAft>
                          <a:spcPts val="0"/>
                        </a:spcAft>
                        <a:buNone/>
                      </a:pPr>
                      <a:endParaRPr sz="1400" b="1" u="none" strike="noStrike" cap="none"/>
                    </a:p>
                  </a:txBody>
                  <a:tcPr marL="91450" marR="91450" marT="45725" marB="45725" anchor="ctr"/>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c>
                  <a:txBody>
                    <a:bodyPr/>
                    <a:lstStyle/>
                    <a:p>
                      <a:pPr marL="0" marR="0" lvl="0" indent="0" algn="ctr" rtl="0">
                        <a:spcBef>
                          <a:spcPts val="0"/>
                        </a:spcBef>
                        <a:spcAft>
                          <a:spcPts val="0"/>
                        </a:spcAft>
                        <a:buNone/>
                      </a:pPr>
                      <a:endParaRPr sz="1400" u="none" strike="noStrike" cap="none"/>
                    </a:p>
                  </a:txBody>
                  <a:tcPr marL="91450" marR="91450" marT="45725" marB="45725"/>
                </a:tc>
              </a:tr>
            </a:tbl>
          </a:graphicData>
        </a:graphic>
      </p:graphicFrame>
      <p:sp>
        <p:nvSpPr>
          <p:cNvPr id="312" name="Google Shape;312;p33"/>
          <p:cNvSpPr/>
          <p:nvPr/>
        </p:nvSpPr>
        <p:spPr>
          <a:xfrm>
            <a:off x="3288437" y="2249627"/>
            <a:ext cx="1357704" cy="359999"/>
          </a:xfrm>
          <a:prstGeom prst="roundRect">
            <a:avLst>
              <a:gd name="adj" fmla="val 16667"/>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3" name="Google Shape;313;p33"/>
          <p:cNvSpPr/>
          <p:nvPr/>
        </p:nvSpPr>
        <p:spPr>
          <a:xfrm>
            <a:off x="4576052" y="2886513"/>
            <a:ext cx="1157483" cy="298271"/>
          </a:xfrm>
          <a:prstGeom prst="roundRect">
            <a:avLst>
              <a:gd name="adj" fmla="val 16667"/>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4" name="Google Shape;314;p33"/>
          <p:cNvSpPr/>
          <p:nvPr/>
        </p:nvSpPr>
        <p:spPr>
          <a:xfrm>
            <a:off x="5733535" y="3237092"/>
            <a:ext cx="1979649" cy="383816"/>
          </a:xfrm>
          <a:prstGeom prst="roundRect">
            <a:avLst>
              <a:gd name="adj" fmla="val 16667"/>
            </a:avLst>
          </a:prstGeom>
          <a:solidFill>
            <a:srgbClr val="4472C4"/>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p33"/>
          <p:cNvSpPr/>
          <p:nvPr/>
        </p:nvSpPr>
        <p:spPr>
          <a:xfrm>
            <a:off x="6921279" y="6356350"/>
            <a:ext cx="130566" cy="360000"/>
          </a:xfrm>
          <a:prstGeom prst="roundRect">
            <a:avLst>
              <a:gd name="adj" fmla="val 16667"/>
            </a:avLst>
          </a:prstGeom>
          <a:solidFill>
            <a:srgbClr val="4472C4"/>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6" name="Google Shape;316;p33"/>
          <p:cNvSpPr txBox="1"/>
          <p:nvPr/>
        </p:nvSpPr>
        <p:spPr>
          <a:xfrm>
            <a:off x="7188180" y="6248371"/>
            <a:ext cx="114975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Work done</a:t>
            </a:r>
            <a:endParaRPr/>
          </a:p>
        </p:txBody>
      </p:sp>
      <p:sp>
        <p:nvSpPr>
          <p:cNvPr id="317" name="Google Shape;317;p33"/>
          <p:cNvSpPr/>
          <p:nvPr/>
        </p:nvSpPr>
        <p:spPr>
          <a:xfrm>
            <a:off x="9851634" y="6943842"/>
            <a:ext cx="130566" cy="360000"/>
          </a:xfrm>
          <a:prstGeom prst="roundRect">
            <a:avLst>
              <a:gd name="adj" fmla="val 16667"/>
            </a:avLst>
          </a:prstGeom>
          <a:solidFill>
            <a:srgbClr val="8DA9DB"/>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8" name="Google Shape;318;p33"/>
          <p:cNvSpPr/>
          <p:nvPr/>
        </p:nvSpPr>
        <p:spPr>
          <a:xfrm>
            <a:off x="7713185" y="4312507"/>
            <a:ext cx="775908" cy="275143"/>
          </a:xfrm>
          <a:prstGeom prst="roundRect">
            <a:avLst>
              <a:gd name="adj" fmla="val 16667"/>
            </a:avLst>
          </a:prstGeom>
          <a:solidFill>
            <a:srgbClr val="4472C4"/>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9" name="Google Shape;319;p33"/>
          <p:cNvSpPr/>
          <p:nvPr/>
        </p:nvSpPr>
        <p:spPr>
          <a:xfrm>
            <a:off x="8489093" y="4909287"/>
            <a:ext cx="775908" cy="275143"/>
          </a:xfrm>
          <a:prstGeom prst="roundRect">
            <a:avLst>
              <a:gd name="adj" fmla="val 16667"/>
            </a:avLst>
          </a:prstGeom>
          <a:solidFill>
            <a:srgbClr val="4472C4"/>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33"/>
          <p:cNvSpPr/>
          <p:nvPr/>
        </p:nvSpPr>
        <p:spPr>
          <a:xfrm>
            <a:off x="9206291" y="5577634"/>
            <a:ext cx="845753" cy="275143"/>
          </a:xfrm>
          <a:prstGeom prst="roundRect">
            <a:avLst>
              <a:gd name="adj" fmla="val 16667"/>
            </a:avLst>
          </a:prstGeom>
          <a:solidFill>
            <a:srgbClr val="4472C4"/>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4"/>
          <p:cNvSpPr txBox="1">
            <a:spLocks noGrp="1"/>
          </p:cNvSpPr>
          <p:nvPr>
            <p:ph type="title"/>
          </p:nvPr>
        </p:nvSpPr>
        <p:spPr>
          <a:xfrm>
            <a:off x="838199" y="466928"/>
            <a:ext cx="11068455" cy="95071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Candara"/>
              <a:buNone/>
            </a:pPr>
            <a:r>
              <a:rPr lang="en-US" sz="3600" b="1">
                <a:solidFill>
                  <a:srgbClr val="FF0000"/>
                </a:solidFill>
              </a:rPr>
              <a:t>A Differential Approach To Privacy </a:t>
            </a:r>
            <a:br>
              <a:rPr lang="en-US" sz="3600" b="1">
                <a:solidFill>
                  <a:srgbClr val="FF0000"/>
                </a:solidFill>
              </a:rPr>
            </a:br>
            <a:r>
              <a:rPr lang="en-US"/>
              <a:t>References</a:t>
            </a:r>
            <a:endParaRPr/>
          </a:p>
        </p:txBody>
      </p:sp>
      <p:sp>
        <p:nvSpPr>
          <p:cNvPr id="326" name="Google Shape;326;p34"/>
          <p:cNvSpPr txBox="1">
            <a:spLocks noGrp="1"/>
          </p:cNvSpPr>
          <p:nvPr>
            <p:ph type="body" idx="1"/>
          </p:nvPr>
        </p:nvSpPr>
        <p:spPr>
          <a:xfrm>
            <a:off x="838200" y="1600200"/>
            <a:ext cx="10515600" cy="5109072"/>
          </a:xfrm>
          <a:prstGeom prst="rect">
            <a:avLst/>
          </a:prstGeom>
          <a:noFill/>
          <a:ln>
            <a:noFill/>
          </a:ln>
        </p:spPr>
        <p:txBody>
          <a:bodyPr spcFirstLastPara="1" wrap="square" lIns="91425" tIns="45700" rIns="91425" bIns="45700" anchor="t" anchorCtr="0">
            <a:noAutofit/>
          </a:bodyPr>
          <a:lstStyle/>
          <a:p>
            <a:pPr lvl="0" indent="-457200">
              <a:lnSpc>
                <a:spcPct val="150000"/>
              </a:lnSpc>
              <a:spcBef>
                <a:spcPts val="0"/>
              </a:spcBef>
              <a:buAutoNum type="arabicParenR"/>
            </a:pPr>
            <a:r>
              <a:rPr lang="en-US" sz="1800" dirty="0" smtClean="0"/>
              <a:t>T. </a:t>
            </a:r>
            <a:r>
              <a:rPr lang="en-US" sz="1800" dirty="0" err="1" smtClean="0"/>
              <a:t>O.Feyisetan</a:t>
            </a:r>
            <a:r>
              <a:rPr lang="en-US" sz="1800" dirty="0" smtClean="0"/>
              <a:t>, </a:t>
            </a:r>
            <a:r>
              <a:rPr lang="en-US" sz="1800" dirty="0" err="1" smtClean="0"/>
              <a:t>B.Balle</a:t>
            </a:r>
            <a:r>
              <a:rPr lang="en-US" sz="1800" dirty="0" smtClean="0"/>
              <a:t> and </a:t>
            </a:r>
            <a:r>
              <a:rPr lang="en-US" sz="1800" dirty="0" err="1" smtClean="0"/>
              <a:t>T.Diethe</a:t>
            </a:r>
            <a:r>
              <a:rPr lang="en-US" sz="1800" dirty="0" smtClean="0"/>
              <a:t> (2019). Privacy- and utility-preserving textual analysis via calibrated multivariate perturbations. Proceedings of the 13th International Conference on Web Search and Data Mining.</a:t>
            </a:r>
          </a:p>
          <a:p>
            <a:pPr lvl="0" indent="-457200">
              <a:lnSpc>
                <a:spcPct val="150000"/>
              </a:lnSpc>
              <a:spcBef>
                <a:spcPts val="0"/>
              </a:spcBef>
              <a:buAutoNum type="arabicParenR"/>
            </a:pPr>
            <a:r>
              <a:rPr lang="en-US" sz="1800" dirty="0" smtClean="0"/>
              <a:t>K. M.E. Andrés, </a:t>
            </a:r>
            <a:r>
              <a:rPr lang="en-US" sz="1800" dirty="0" err="1" smtClean="0"/>
              <a:t>N.E.Bordenabe</a:t>
            </a:r>
            <a:r>
              <a:rPr lang="en-US" sz="1800" dirty="0" smtClean="0"/>
              <a:t> and </a:t>
            </a:r>
            <a:r>
              <a:rPr lang="en-US" sz="1800" dirty="0" err="1" smtClean="0"/>
              <a:t>C.Palamidessi</a:t>
            </a:r>
            <a:r>
              <a:rPr lang="en-US" sz="1800" dirty="0" smtClean="0"/>
              <a:t> (2012). Geo-</a:t>
            </a:r>
            <a:r>
              <a:rPr lang="en-US" sz="1800" dirty="0" err="1" smtClean="0"/>
              <a:t>indistinguishability</a:t>
            </a:r>
            <a:r>
              <a:rPr lang="en-US" sz="1800" dirty="0" smtClean="0"/>
              <a:t>: differential privacy for location-based systems. Proceedings of the 2013 ACM SIGSAC conference on Computer &amp; communications security.</a:t>
            </a:r>
          </a:p>
          <a:p>
            <a:pPr lvl="0" indent="-457200">
              <a:lnSpc>
                <a:spcPct val="150000"/>
              </a:lnSpc>
              <a:spcBef>
                <a:spcPts val="0"/>
              </a:spcBef>
              <a:buAutoNum type="arabicParenR" startAt="3"/>
            </a:pPr>
            <a:r>
              <a:rPr lang="en-US" sz="1800" dirty="0" smtClean="0"/>
              <a:t>R. </a:t>
            </a:r>
            <a:r>
              <a:rPr lang="en-US" sz="1800" dirty="0" err="1" smtClean="0"/>
              <a:t>V.Bindschaedler</a:t>
            </a:r>
            <a:r>
              <a:rPr lang="en-US" sz="1800" dirty="0" smtClean="0"/>
              <a:t> and </a:t>
            </a:r>
            <a:r>
              <a:rPr lang="en-US" sz="1800" dirty="0" err="1" smtClean="0"/>
              <a:t>C.A.Gunter</a:t>
            </a:r>
            <a:r>
              <a:rPr lang="en-US" sz="1800" dirty="0" smtClean="0"/>
              <a:t> (2017). Plausible deniability for privacy-preserving data synthesis. </a:t>
            </a:r>
            <a:r>
              <a:rPr lang="en-US" sz="1800" dirty="0" err="1" smtClean="0"/>
              <a:t>ArXiv</a:t>
            </a:r>
            <a:r>
              <a:rPr lang="en-US" sz="1800" dirty="0" smtClean="0"/>
              <a:t>, abs/1708.07975.</a:t>
            </a:r>
            <a:endParaRPr lang="en-US" dirty="0"/>
          </a:p>
          <a:p>
            <a:pPr lvl="0" indent="-457200">
              <a:lnSpc>
                <a:spcPct val="150000"/>
              </a:lnSpc>
              <a:spcBef>
                <a:spcPts val="0"/>
              </a:spcBef>
              <a:buAutoNum type="arabicParenR" startAt="3"/>
            </a:pPr>
            <a:r>
              <a:rPr lang="en-US" sz="1800" dirty="0" smtClean="0"/>
              <a:t> N. </a:t>
            </a:r>
            <a:r>
              <a:rPr lang="en-US" sz="1800" dirty="0" err="1" smtClean="0"/>
              <a:t>K.Chatzikokolakis</a:t>
            </a:r>
            <a:r>
              <a:rPr lang="en-US" sz="1800" dirty="0" smtClean="0"/>
              <a:t>, </a:t>
            </a:r>
            <a:r>
              <a:rPr lang="en-US" sz="1800" dirty="0" err="1" smtClean="0"/>
              <a:t>M.E.Andrés</a:t>
            </a:r>
            <a:r>
              <a:rPr lang="en-US" sz="1800" dirty="0" smtClean="0"/>
              <a:t> and </a:t>
            </a:r>
            <a:r>
              <a:rPr lang="en-US" sz="1800" dirty="0" err="1" smtClean="0"/>
              <a:t>C.Palamidessi</a:t>
            </a:r>
            <a:r>
              <a:rPr lang="en-US" sz="1800" dirty="0" smtClean="0"/>
              <a:t>, Broadening the scope of differential privacy using metrics. In International Symposium on Privacy Enhancing Technologies. 2013.</a:t>
            </a:r>
          </a:p>
          <a:p>
            <a:pPr marL="228600" lvl="0" indent="-228600">
              <a:lnSpc>
                <a:spcPct val="150000"/>
              </a:lnSpc>
              <a:buNone/>
            </a:pPr>
            <a:r>
              <a:rPr lang="en-US" sz="1800" dirty="0" smtClean="0"/>
              <a:t>5</a:t>
            </a:r>
            <a:r>
              <a:rPr lang="en-US" sz="1800" dirty="0"/>
              <a:t>) </a:t>
            </a:r>
            <a:r>
              <a:rPr lang="en-US" sz="1800" dirty="0" smtClean="0"/>
              <a:t>     K. </a:t>
            </a:r>
            <a:r>
              <a:rPr lang="en-US" sz="1800" dirty="0" err="1" smtClean="0"/>
              <a:t>C.Dwork</a:t>
            </a:r>
            <a:r>
              <a:rPr lang="en-US" sz="1800" dirty="0" smtClean="0"/>
              <a:t>, </a:t>
            </a:r>
            <a:r>
              <a:rPr lang="en-US" sz="1800" dirty="0" err="1" smtClean="0"/>
              <a:t>F.McSherry</a:t>
            </a:r>
            <a:r>
              <a:rPr lang="en-US" sz="1800" dirty="0" smtClean="0"/>
              <a:t> and </a:t>
            </a:r>
            <a:r>
              <a:rPr lang="en-US" sz="1800" dirty="0" err="1" smtClean="0"/>
              <a:t>A.D.Smith</a:t>
            </a:r>
            <a:r>
              <a:rPr lang="en-US" sz="1800" dirty="0" smtClean="0"/>
              <a:t> (2006). Calibrating noise to sensitivity in</a:t>
            </a:r>
            <a:br>
              <a:rPr lang="en-US" sz="1800" dirty="0" smtClean="0"/>
            </a:br>
            <a:r>
              <a:rPr lang="en-US" sz="1800" dirty="0" smtClean="0"/>
              <a:t>      private data analysis. J. Priv. Confidentiality, 7, 17–51.and 18 </a:t>
            </a:r>
            <a:r>
              <a:rPr lang="en-US" sz="1800" dirty="0"/>
              <a:t>more.</a:t>
            </a:r>
            <a:endParaRPr dirty="0"/>
          </a:p>
          <a:p>
            <a:pPr marL="228600" lvl="0" indent="-228600" algn="l" rtl="0">
              <a:lnSpc>
                <a:spcPct val="90000"/>
              </a:lnSpc>
              <a:spcBef>
                <a:spcPts val="1000"/>
              </a:spcBef>
              <a:spcAft>
                <a:spcPts val="0"/>
              </a:spcAft>
              <a:buClr>
                <a:schemeClr val="dk1"/>
              </a:buClr>
              <a:buSzPts val="1800"/>
              <a:buNone/>
            </a:pPr>
            <a:endParaRPr sz="1800" dirty="0"/>
          </a:p>
        </p:txBody>
      </p:sp>
      <p:sp>
        <p:nvSpPr>
          <p:cNvPr id="327" name="Google Shape;32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29</a:t>
            </a:fld>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30</a:t>
            </a:fld>
            <a:endParaRPr/>
          </a:p>
        </p:txBody>
      </p:sp>
      <p:sp>
        <p:nvSpPr>
          <p:cNvPr id="333" name="Google Shape;333;p35"/>
          <p:cNvSpPr/>
          <p:nvPr/>
        </p:nvSpPr>
        <p:spPr>
          <a:xfrm>
            <a:off x="2991061" y="4535305"/>
            <a:ext cx="1522463" cy="1639981"/>
          </a:xfrm>
          <a:custGeom>
            <a:avLst/>
            <a:gdLst/>
            <a:ahLst/>
            <a:cxnLst/>
            <a:rect l="l" t="t" r="r" b="b"/>
            <a:pathLst>
              <a:path w="1522463" h="1639981" extrusionOk="0">
                <a:moveTo>
                  <a:pt x="1499862" y="890353"/>
                </a:moveTo>
                <a:lnTo>
                  <a:pt x="1345695" y="647223"/>
                </a:lnTo>
                <a:lnTo>
                  <a:pt x="1345695" y="637128"/>
                </a:lnTo>
                <a:cubicBezTo>
                  <a:pt x="1362571" y="300881"/>
                  <a:pt x="1075158" y="15918"/>
                  <a:pt x="703750" y="639"/>
                </a:cubicBezTo>
                <a:cubicBezTo>
                  <a:pt x="332337" y="-14634"/>
                  <a:pt x="17568" y="245561"/>
                  <a:pt x="694" y="581807"/>
                </a:cubicBezTo>
                <a:cubicBezTo>
                  <a:pt x="-231" y="600235"/>
                  <a:pt x="-231" y="618695"/>
                  <a:pt x="694" y="637128"/>
                </a:cubicBezTo>
                <a:cubicBezTo>
                  <a:pt x="-202" y="828780"/>
                  <a:pt x="97278" y="1009936"/>
                  <a:pt x="264524" y="1127435"/>
                </a:cubicBezTo>
                <a:lnTo>
                  <a:pt x="264524" y="1639981"/>
                </a:lnTo>
                <a:lnTo>
                  <a:pt x="971738" y="1639981"/>
                </a:lnTo>
                <a:lnTo>
                  <a:pt x="971738" y="1396897"/>
                </a:lnTo>
                <a:lnTo>
                  <a:pt x="1081402" y="1396897"/>
                </a:lnTo>
                <a:cubicBezTo>
                  <a:pt x="1227254" y="1396888"/>
                  <a:pt x="1345484" y="1289843"/>
                  <a:pt x="1345474" y="1157801"/>
                </a:cubicBezTo>
                <a:cubicBezTo>
                  <a:pt x="1345474" y="1156517"/>
                  <a:pt x="1345459" y="1155237"/>
                  <a:pt x="1345438" y="1153953"/>
                </a:cubicBezTo>
                <a:lnTo>
                  <a:pt x="1345438" y="1032202"/>
                </a:lnTo>
                <a:lnTo>
                  <a:pt x="1443899" y="1032202"/>
                </a:lnTo>
                <a:cubicBezTo>
                  <a:pt x="1502123" y="1026108"/>
                  <a:pt x="1553563" y="965349"/>
                  <a:pt x="1499862" y="890353"/>
                </a:cubicBezTo>
                <a:close/>
              </a:path>
            </a:pathLst>
          </a:custGeom>
          <a:solidFill>
            <a:srgbClr val="F4B08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35"/>
          <p:cNvSpPr/>
          <p:nvPr/>
        </p:nvSpPr>
        <p:spPr>
          <a:xfrm>
            <a:off x="4405566" y="4648954"/>
            <a:ext cx="283049" cy="256249"/>
          </a:xfrm>
          <a:custGeom>
            <a:avLst/>
            <a:gdLst/>
            <a:ahLst/>
            <a:cxnLst/>
            <a:rect l="l" t="t" r="r" b="b"/>
            <a:pathLst>
              <a:path w="283049" h="256249" extrusionOk="0">
                <a:moveTo>
                  <a:pt x="283050" y="128125"/>
                </a:moveTo>
                <a:cubicBezTo>
                  <a:pt x="283050" y="198886"/>
                  <a:pt x="219687" y="256250"/>
                  <a:pt x="141525" y="256250"/>
                </a:cubicBezTo>
                <a:cubicBezTo>
                  <a:pt x="63363" y="256250"/>
                  <a:pt x="0" y="198886"/>
                  <a:pt x="0" y="128125"/>
                </a:cubicBezTo>
                <a:cubicBezTo>
                  <a:pt x="0" y="57363"/>
                  <a:pt x="63363" y="0"/>
                  <a:pt x="141525" y="0"/>
                </a:cubicBezTo>
                <a:cubicBezTo>
                  <a:pt x="219687" y="0"/>
                  <a:pt x="283050" y="57363"/>
                  <a:pt x="283050" y="128125"/>
                </a:cubicBezTo>
                <a:close/>
              </a:path>
            </a:pathLst>
          </a:custGeom>
          <a:solidFill>
            <a:srgbClr val="F4B08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35"/>
          <p:cNvSpPr/>
          <p:nvPr/>
        </p:nvSpPr>
        <p:spPr>
          <a:xfrm>
            <a:off x="4745914" y="4302914"/>
            <a:ext cx="492613" cy="445971"/>
          </a:xfrm>
          <a:custGeom>
            <a:avLst/>
            <a:gdLst/>
            <a:ahLst/>
            <a:cxnLst/>
            <a:rect l="l" t="t" r="r" b="b"/>
            <a:pathLst>
              <a:path w="492613" h="445971" extrusionOk="0">
                <a:moveTo>
                  <a:pt x="492614" y="222986"/>
                </a:moveTo>
                <a:cubicBezTo>
                  <a:pt x="492614" y="346137"/>
                  <a:pt x="382338" y="445971"/>
                  <a:pt x="246307" y="445971"/>
                </a:cubicBezTo>
                <a:cubicBezTo>
                  <a:pt x="110275" y="445971"/>
                  <a:pt x="0" y="346137"/>
                  <a:pt x="0" y="222986"/>
                </a:cubicBezTo>
                <a:cubicBezTo>
                  <a:pt x="0" y="99834"/>
                  <a:pt x="110276" y="0"/>
                  <a:pt x="246307" y="0"/>
                </a:cubicBezTo>
                <a:cubicBezTo>
                  <a:pt x="382339" y="0"/>
                  <a:pt x="492614" y="99834"/>
                  <a:pt x="492614" y="222986"/>
                </a:cubicBezTo>
                <a:close/>
              </a:path>
            </a:pathLst>
          </a:custGeom>
          <a:solidFill>
            <a:srgbClr val="F4B08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p35"/>
          <p:cNvSpPr/>
          <p:nvPr/>
        </p:nvSpPr>
        <p:spPr>
          <a:xfrm>
            <a:off x="3821649" y="2074400"/>
            <a:ext cx="3643421" cy="2241536"/>
          </a:xfrm>
          <a:custGeom>
            <a:avLst/>
            <a:gdLst/>
            <a:ahLst/>
            <a:cxnLst/>
            <a:rect l="l" t="t" r="r" b="b"/>
            <a:pathLst>
              <a:path w="3643421" h="2241536" extrusionOk="0">
                <a:moveTo>
                  <a:pt x="3171348" y="761174"/>
                </a:moveTo>
                <a:cubicBezTo>
                  <a:pt x="3135093" y="761225"/>
                  <a:pt x="3098997" y="765495"/>
                  <a:pt x="3063945" y="773874"/>
                </a:cubicBezTo>
                <a:cubicBezTo>
                  <a:pt x="3073503" y="742178"/>
                  <a:pt x="3078221" y="709449"/>
                  <a:pt x="3077974" y="676594"/>
                </a:cubicBezTo>
                <a:cubicBezTo>
                  <a:pt x="3077182" y="443285"/>
                  <a:pt x="2868405" y="254358"/>
                  <a:pt x="2610695" y="253745"/>
                </a:cubicBezTo>
                <a:cubicBezTo>
                  <a:pt x="2506067" y="254029"/>
                  <a:pt x="2404394" y="285214"/>
                  <a:pt x="2321118" y="342558"/>
                </a:cubicBezTo>
                <a:cubicBezTo>
                  <a:pt x="2280367" y="143097"/>
                  <a:pt x="2087556" y="-1234"/>
                  <a:pt x="1863500" y="8"/>
                </a:cubicBezTo>
                <a:cubicBezTo>
                  <a:pt x="1651146" y="2163"/>
                  <a:pt x="1466167" y="131643"/>
                  <a:pt x="1410405" y="317156"/>
                </a:cubicBezTo>
                <a:cubicBezTo>
                  <a:pt x="1324909" y="198610"/>
                  <a:pt x="1179165" y="127067"/>
                  <a:pt x="1022778" y="126877"/>
                </a:cubicBezTo>
                <a:cubicBezTo>
                  <a:pt x="765119" y="127541"/>
                  <a:pt x="556414" y="316463"/>
                  <a:pt x="555653" y="549726"/>
                </a:cubicBezTo>
                <a:cubicBezTo>
                  <a:pt x="555710" y="582562"/>
                  <a:pt x="560422" y="615258"/>
                  <a:pt x="569682" y="647006"/>
                </a:cubicBezTo>
                <a:cubicBezTo>
                  <a:pt x="534614" y="638627"/>
                  <a:pt x="498498" y="634356"/>
                  <a:pt x="462228" y="634305"/>
                </a:cubicBezTo>
                <a:cubicBezTo>
                  <a:pt x="204256" y="636757"/>
                  <a:pt x="-2677" y="828064"/>
                  <a:pt x="26" y="1061611"/>
                </a:cubicBezTo>
                <a:cubicBezTo>
                  <a:pt x="2693" y="1291700"/>
                  <a:pt x="208074" y="1477635"/>
                  <a:pt x="462228" y="1480050"/>
                </a:cubicBezTo>
                <a:lnTo>
                  <a:pt x="466905" y="1480050"/>
                </a:lnTo>
                <a:cubicBezTo>
                  <a:pt x="490996" y="1711042"/>
                  <a:pt x="717359" y="1880614"/>
                  <a:pt x="972509" y="1858809"/>
                </a:cubicBezTo>
                <a:cubicBezTo>
                  <a:pt x="1060600" y="1851276"/>
                  <a:pt x="1144477" y="1821101"/>
                  <a:pt x="1214253" y="1771843"/>
                </a:cubicBezTo>
                <a:cubicBezTo>
                  <a:pt x="1214253" y="1784544"/>
                  <a:pt x="1209577" y="1801432"/>
                  <a:pt x="1209577" y="1818366"/>
                </a:cubicBezTo>
                <a:cubicBezTo>
                  <a:pt x="1209947" y="2052415"/>
                  <a:pt x="1419824" y="2241871"/>
                  <a:pt x="1678351" y="2241536"/>
                </a:cubicBezTo>
                <a:cubicBezTo>
                  <a:pt x="1920069" y="2241224"/>
                  <a:pt x="2121776" y="2074341"/>
                  <a:pt x="2143827" y="1856422"/>
                </a:cubicBezTo>
                <a:cubicBezTo>
                  <a:pt x="2230047" y="1965551"/>
                  <a:pt x="2369270" y="2030163"/>
                  <a:pt x="2517475" y="2029814"/>
                </a:cubicBezTo>
                <a:cubicBezTo>
                  <a:pt x="2775145" y="2029125"/>
                  <a:pt x="2983840" y="1840190"/>
                  <a:pt x="2984600" y="1606918"/>
                </a:cubicBezTo>
                <a:lnTo>
                  <a:pt x="2984600" y="1568862"/>
                </a:lnTo>
                <a:cubicBezTo>
                  <a:pt x="3043543" y="1592412"/>
                  <a:pt x="3106993" y="1605336"/>
                  <a:pt x="3171399" y="1606918"/>
                </a:cubicBezTo>
                <a:cubicBezTo>
                  <a:pt x="3429371" y="1609370"/>
                  <a:pt x="3640692" y="1422026"/>
                  <a:pt x="3643396" y="1188479"/>
                </a:cubicBezTo>
                <a:cubicBezTo>
                  <a:pt x="3646104" y="954933"/>
                  <a:pt x="3439171" y="763625"/>
                  <a:pt x="3181199" y="761174"/>
                </a:cubicBezTo>
                <a:cubicBezTo>
                  <a:pt x="3177930" y="761141"/>
                  <a:pt x="3174667" y="761141"/>
                  <a:pt x="3171399" y="761174"/>
                </a:cubicBezTo>
                <a:close/>
              </a:path>
            </a:pathLst>
          </a:custGeom>
          <a:solidFill>
            <a:srgbClr val="F4B08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37" name="Google Shape;337;p35" descr="Question Mark with solid fill"/>
          <p:cNvPicPr preferRelativeResize="0"/>
          <p:nvPr/>
        </p:nvPicPr>
        <p:blipFill rotWithShape="1">
          <a:blip r:embed="rId3">
            <a:alphaModFix/>
          </a:blip>
          <a:srcRect/>
          <a:stretch/>
        </p:blipFill>
        <p:spPr>
          <a:xfrm>
            <a:off x="4954621" y="2555086"/>
            <a:ext cx="1141379" cy="1141379"/>
          </a:xfrm>
          <a:prstGeom prst="rect">
            <a:avLst/>
          </a:prstGeom>
          <a:noFill/>
          <a:ln>
            <a:noFill/>
          </a:ln>
        </p:spPr>
      </p:pic>
      <p:sp>
        <p:nvSpPr>
          <p:cNvPr id="338" name="Google Shape;338;p35"/>
          <p:cNvSpPr/>
          <p:nvPr/>
        </p:nvSpPr>
        <p:spPr>
          <a:xfrm>
            <a:off x="10340502" y="6099244"/>
            <a:ext cx="1780162" cy="622232"/>
          </a:xfrm>
          <a:prstGeom prst="rect">
            <a:avLst/>
          </a:prstGeom>
          <a:solidFill>
            <a:srgbClr val="7B5643"/>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2"/>
        <p:cNvGrpSpPr/>
        <p:nvPr/>
      </p:nvGrpSpPr>
      <p:grpSpPr>
        <a:xfrm>
          <a:off x="0" y="0"/>
          <a:ext cx="0" cy="0"/>
          <a:chOff x="0" y="0"/>
          <a:chExt cx="0" cy="0"/>
        </a:xfrm>
      </p:grpSpPr>
      <p:sp>
        <p:nvSpPr>
          <p:cNvPr id="343" name="Google Shape;343;p3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4" name="Google Shape;344;p36"/>
          <p:cNvSpPr/>
          <p:nvPr/>
        </p:nvSpPr>
        <p:spPr>
          <a:xfrm>
            <a:off x="9559988" y="0"/>
            <a:ext cx="2632012" cy="6858000"/>
          </a:xfrm>
          <a:custGeom>
            <a:avLst/>
            <a:gdLst/>
            <a:ahLst/>
            <a:cxnLst/>
            <a:rect l="l" t="t" r="r" b="b"/>
            <a:pathLst>
              <a:path w="2632012" h="6858000" extrusionOk="0">
                <a:moveTo>
                  <a:pt x="932173" y="1512545"/>
                </a:moveTo>
                <a:lnTo>
                  <a:pt x="932462" y="1512581"/>
                </a:lnTo>
                <a:lnTo>
                  <a:pt x="932378" y="1512599"/>
                </a:lnTo>
                <a:cubicBezTo>
                  <a:pt x="930618" y="1512681"/>
                  <a:pt x="930202" y="1512462"/>
                  <a:pt x="932173" y="1512545"/>
                </a:cubicBezTo>
                <a:close/>
                <a:moveTo>
                  <a:pt x="1207569" y="0"/>
                </a:moveTo>
                <a:lnTo>
                  <a:pt x="2632012" y="0"/>
                </a:lnTo>
                <a:lnTo>
                  <a:pt x="2632012" y="6858000"/>
                </a:lnTo>
                <a:lnTo>
                  <a:pt x="13514" y="6858000"/>
                </a:lnTo>
                <a:cubicBezTo>
                  <a:pt x="13399" y="6842943"/>
                  <a:pt x="13285" y="6827886"/>
                  <a:pt x="13170" y="6812829"/>
                </a:cubicBezTo>
                <a:cubicBezTo>
                  <a:pt x="12714" y="6794763"/>
                  <a:pt x="13524" y="6777517"/>
                  <a:pt x="20332" y="6760689"/>
                </a:cubicBezTo>
                <a:cubicBezTo>
                  <a:pt x="10828" y="6746468"/>
                  <a:pt x="7794" y="6733277"/>
                  <a:pt x="25596" y="6721251"/>
                </a:cubicBezTo>
                <a:cubicBezTo>
                  <a:pt x="24143" y="6683539"/>
                  <a:pt x="1631" y="6673595"/>
                  <a:pt x="22507" y="6650499"/>
                </a:cubicBezTo>
                <a:cubicBezTo>
                  <a:pt x="-25124" y="6620536"/>
                  <a:pt x="16765" y="6629253"/>
                  <a:pt x="22444" y="6604241"/>
                </a:cubicBezTo>
                <a:cubicBezTo>
                  <a:pt x="28668" y="6588866"/>
                  <a:pt x="29169" y="6574778"/>
                  <a:pt x="31867" y="6559984"/>
                </a:cubicBezTo>
                <a:cubicBezTo>
                  <a:pt x="4443" y="6566661"/>
                  <a:pt x="62924" y="6515664"/>
                  <a:pt x="38635" y="6515473"/>
                </a:cubicBezTo>
                <a:cubicBezTo>
                  <a:pt x="72259" y="6495428"/>
                  <a:pt x="29118" y="6488543"/>
                  <a:pt x="38467" y="6463736"/>
                </a:cubicBezTo>
                <a:cubicBezTo>
                  <a:pt x="50944" y="6451623"/>
                  <a:pt x="52742" y="6443270"/>
                  <a:pt x="38052" y="6432794"/>
                </a:cubicBezTo>
                <a:cubicBezTo>
                  <a:pt x="98939" y="6376824"/>
                  <a:pt x="58603" y="6351821"/>
                  <a:pt x="80445" y="6301309"/>
                </a:cubicBezTo>
                <a:cubicBezTo>
                  <a:pt x="103917" y="6257537"/>
                  <a:pt x="78836" y="6301310"/>
                  <a:pt x="138157" y="6257030"/>
                </a:cubicBezTo>
                <a:cubicBezTo>
                  <a:pt x="155187" y="6248574"/>
                  <a:pt x="166108" y="6186701"/>
                  <a:pt x="170419" y="6171255"/>
                </a:cubicBezTo>
                <a:cubicBezTo>
                  <a:pt x="174731" y="6155809"/>
                  <a:pt x="166522" y="6166390"/>
                  <a:pt x="164027" y="6164357"/>
                </a:cubicBezTo>
                <a:cubicBezTo>
                  <a:pt x="206228" y="6137678"/>
                  <a:pt x="184454" y="6121750"/>
                  <a:pt x="213309" y="6109331"/>
                </a:cubicBezTo>
                <a:cubicBezTo>
                  <a:pt x="224262" y="6067371"/>
                  <a:pt x="183175" y="5890445"/>
                  <a:pt x="208456" y="5878851"/>
                </a:cubicBezTo>
                <a:cubicBezTo>
                  <a:pt x="225886" y="5808435"/>
                  <a:pt x="192379" y="5574013"/>
                  <a:pt x="219615" y="5557777"/>
                </a:cubicBezTo>
                <a:lnTo>
                  <a:pt x="245711" y="5066230"/>
                </a:lnTo>
                <a:cubicBezTo>
                  <a:pt x="117719" y="4582016"/>
                  <a:pt x="230524" y="4647254"/>
                  <a:pt x="276721" y="4162848"/>
                </a:cubicBezTo>
                <a:lnTo>
                  <a:pt x="343082" y="3059377"/>
                </a:lnTo>
                <a:cubicBezTo>
                  <a:pt x="347947" y="2889121"/>
                  <a:pt x="364765" y="2862299"/>
                  <a:pt x="369630" y="2692043"/>
                </a:cubicBezTo>
                <a:cubicBezTo>
                  <a:pt x="369393" y="2690043"/>
                  <a:pt x="435560" y="2522082"/>
                  <a:pt x="435324" y="2520083"/>
                </a:cubicBezTo>
                <a:lnTo>
                  <a:pt x="482259" y="2336178"/>
                </a:lnTo>
                <a:cubicBezTo>
                  <a:pt x="516201" y="2267350"/>
                  <a:pt x="537443" y="2148254"/>
                  <a:pt x="569515" y="2091909"/>
                </a:cubicBezTo>
                <a:cubicBezTo>
                  <a:pt x="629286" y="2030534"/>
                  <a:pt x="622061" y="2045605"/>
                  <a:pt x="638163" y="1994147"/>
                </a:cubicBezTo>
                <a:cubicBezTo>
                  <a:pt x="633178" y="1967912"/>
                  <a:pt x="705417" y="1945185"/>
                  <a:pt x="737312" y="1871408"/>
                </a:cubicBezTo>
                <a:cubicBezTo>
                  <a:pt x="759407" y="1814663"/>
                  <a:pt x="795838" y="1856475"/>
                  <a:pt x="788501" y="1793826"/>
                </a:cubicBezTo>
                <a:cubicBezTo>
                  <a:pt x="796402" y="1792725"/>
                  <a:pt x="813276" y="1750182"/>
                  <a:pt x="819432" y="1746824"/>
                </a:cubicBezTo>
                <a:lnTo>
                  <a:pt x="843936" y="1697348"/>
                </a:lnTo>
                <a:cubicBezTo>
                  <a:pt x="847635" y="1681502"/>
                  <a:pt x="845709" y="1667584"/>
                  <a:pt x="846526" y="1659754"/>
                </a:cubicBezTo>
                <a:lnTo>
                  <a:pt x="873830" y="1628041"/>
                </a:lnTo>
                <a:lnTo>
                  <a:pt x="890626" y="1599883"/>
                </a:lnTo>
                <a:lnTo>
                  <a:pt x="921288" y="1579569"/>
                </a:lnTo>
                <a:cubicBezTo>
                  <a:pt x="921111" y="1565502"/>
                  <a:pt x="920933" y="1551436"/>
                  <a:pt x="920756" y="1537369"/>
                </a:cubicBezTo>
                <a:cubicBezTo>
                  <a:pt x="918173" y="1533598"/>
                  <a:pt x="943194" y="1519497"/>
                  <a:pt x="946290" y="1514308"/>
                </a:cubicBezTo>
                <a:lnTo>
                  <a:pt x="932462" y="1512581"/>
                </a:lnTo>
                <a:lnTo>
                  <a:pt x="940652" y="1510839"/>
                </a:lnTo>
                <a:cubicBezTo>
                  <a:pt x="944059" y="1509546"/>
                  <a:pt x="947769" y="1507347"/>
                  <a:pt x="950739" y="1503635"/>
                </a:cubicBezTo>
                <a:lnTo>
                  <a:pt x="966405" y="1439967"/>
                </a:lnTo>
                <a:cubicBezTo>
                  <a:pt x="966567" y="1437915"/>
                  <a:pt x="970755" y="1392639"/>
                  <a:pt x="973516" y="1389073"/>
                </a:cubicBezTo>
                <a:lnTo>
                  <a:pt x="986960" y="1351857"/>
                </a:lnTo>
                <a:lnTo>
                  <a:pt x="987761" y="1363479"/>
                </a:lnTo>
                <a:cubicBezTo>
                  <a:pt x="987046" y="1391389"/>
                  <a:pt x="991418" y="1341827"/>
                  <a:pt x="989043" y="1346093"/>
                </a:cubicBezTo>
                <a:lnTo>
                  <a:pt x="986960" y="1351857"/>
                </a:lnTo>
                <a:lnTo>
                  <a:pt x="985769" y="1334556"/>
                </a:lnTo>
                <a:cubicBezTo>
                  <a:pt x="983992" y="1300062"/>
                  <a:pt x="982872" y="1251835"/>
                  <a:pt x="982507" y="1216698"/>
                </a:cubicBezTo>
                <a:cubicBezTo>
                  <a:pt x="989105" y="1176777"/>
                  <a:pt x="968656" y="1115073"/>
                  <a:pt x="984836" y="1082381"/>
                </a:cubicBezTo>
                <a:cubicBezTo>
                  <a:pt x="976467" y="1067557"/>
                  <a:pt x="974466" y="1054191"/>
                  <a:pt x="993140" y="1043366"/>
                </a:cubicBezTo>
                <a:cubicBezTo>
                  <a:pt x="994613" y="1005627"/>
                  <a:pt x="972947" y="994211"/>
                  <a:pt x="995544" y="972540"/>
                </a:cubicBezTo>
                <a:cubicBezTo>
                  <a:pt x="1001437" y="952637"/>
                  <a:pt x="1021106" y="938879"/>
                  <a:pt x="1028500" y="923945"/>
                </a:cubicBezTo>
                <a:cubicBezTo>
                  <a:pt x="1032923" y="901661"/>
                  <a:pt x="1022511" y="861628"/>
                  <a:pt x="1022082" y="838835"/>
                </a:cubicBezTo>
                <a:cubicBezTo>
                  <a:pt x="1057150" y="821053"/>
                  <a:pt x="1014683" y="811325"/>
                  <a:pt x="1025925" y="787183"/>
                </a:cubicBezTo>
                <a:cubicBezTo>
                  <a:pt x="1039299" y="775919"/>
                  <a:pt x="1041738" y="767701"/>
                  <a:pt x="1027904" y="756272"/>
                </a:cubicBezTo>
                <a:cubicBezTo>
                  <a:pt x="1092931" y="704439"/>
                  <a:pt x="1063111" y="690611"/>
                  <a:pt x="1088796" y="641639"/>
                </a:cubicBezTo>
                <a:cubicBezTo>
                  <a:pt x="1115586" y="599503"/>
                  <a:pt x="1101832" y="585408"/>
                  <a:pt x="1164389" y="545140"/>
                </a:cubicBezTo>
                <a:cubicBezTo>
                  <a:pt x="1183904" y="515341"/>
                  <a:pt x="1212474" y="444932"/>
                  <a:pt x="1225321" y="413843"/>
                </a:cubicBezTo>
                <a:cubicBezTo>
                  <a:pt x="1235550" y="389613"/>
                  <a:pt x="1230254" y="392779"/>
                  <a:pt x="1241477" y="358607"/>
                </a:cubicBezTo>
                <a:cubicBezTo>
                  <a:pt x="1244505" y="325057"/>
                  <a:pt x="1241891" y="287714"/>
                  <a:pt x="1246119" y="254866"/>
                </a:cubicBezTo>
                <a:cubicBezTo>
                  <a:pt x="1250325" y="233178"/>
                  <a:pt x="1255354" y="194919"/>
                  <a:pt x="1266837" y="161517"/>
                </a:cubicBezTo>
                <a:cubicBezTo>
                  <a:pt x="1312077" y="135871"/>
                  <a:pt x="1280314" y="75805"/>
                  <a:pt x="1315021" y="54455"/>
                </a:cubicBezTo>
                <a:cubicBezTo>
                  <a:pt x="1325412" y="38765"/>
                  <a:pt x="1323873" y="23602"/>
                  <a:pt x="1319335" y="8880"/>
                </a:cubicBezTo>
                <a:lnTo>
                  <a:pt x="1316402" y="852"/>
                </a:lnTo>
                <a:lnTo>
                  <a:pt x="1207569" y="0"/>
                </a:ln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5" name="Google Shape;345;p36"/>
          <p:cNvSpPr/>
          <p:nvPr/>
        </p:nvSpPr>
        <p:spPr>
          <a:xfrm>
            <a:off x="7730496" y="2022496"/>
            <a:ext cx="3795039" cy="4043934"/>
          </a:xfrm>
          <a:custGeom>
            <a:avLst/>
            <a:gdLst/>
            <a:ahLst/>
            <a:cxnLst/>
            <a:rect l="l" t="t" r="r" b="b"/>
            <a:pathLst>
              <a:path w="2400300" h="2400300" extrusionOk="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6" name="Google Shape;346;p36" descr="Smiling Face with No Fill"/>
          <p:cNvPicPr preferRelativeResize="0"/>
          <p:nvPr/>
        </p:nvPicPr>
        <p:blipFill rotWithShape="1">
          <a:blip r:embed="rId3">
            <a:alphaModFix/>
          </a:blip>
          <a:srcRect/>
          <a:stretch/>
        </p:blipFill>
        <p:spPr>
          <a:xfrm>
            <a:off x="7891362" y="2308377"/>
            <a:ext cx="3482910" cy="3482910"/>
          </a:xfrm>
          <a:prstGeom prst="rect">
            <a:avLst/>
          </a:prstGeom>
          <a:noFill/>
          <a:ln>
            <a:noFill/>
          </a:ln>
        </p:spPr>
      </p:pic>
      <p:sp>
        <p:nvSpPr>
          <p:cNvPr id="347" name="Google Shape;347;p36"/>
          <p:cNvSpPr/>
          <p:nvPr/>
        </p:nvSpPr>
        <p:spPr>
          <a:xfrm>
            <a:off x="9102788" y="5952857"/>
            <a:ext cx="1367625" cy="428984"/>
          </a:xfrm>
          <a:custGeom>
            <a:avLst/>
            <a:gdLst/>
            <a:ahLst/>
            <a:cxnLst/>
            <a:rect l="l" t="t" r="r" b="b"/>
            <a:pathLst>
              <a:path w="2201784" h="594531" extrusionOk="0">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8" name="Google Shape;34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31</a:t>
            </a:fld>
            <a:endParaRPr/>
          </a:p>
        </p:txBody>
      </p:sp>
      <p:sp>
        <p:nvSpPr>
          <p:cNvPr id="349" name="Google Shape;349;p36"/>
          <p:cNvSpPr txBox="1"/>
          <p:nvPr/>
        </p:nvSpPr>
        <p:spPr>
          <a:xfrm>
            <a:off x="1347309" y="3244688"/>
            <a:ext cx="5950970" cy="390858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6000"/>
              <a:buFont typeface="Arial"/>
              <a:buNone/>
            </a:pPr>
            <a:r>
              <a:rPr lang="en-US" sz="6000">
                <a:solidFill>
                  <a:schemeClr val="dk1"/>
                </a:solidFill>
                <a:latin typeface="Candara"/>
                <a:ea typeface="Candara"/>
                <a:cs typeface="Candara"/>
                <a:sym typeface="Candara"/>
              </a:rPr>
              <a:t>THANK YOU</a:t>
            </a:r>
            <a:endParaRPr sz="6000">
              <a:solidFill>
                <a:schemeClr val="dk1"/>
              </a:solidFill>
              <a:latin typeface="Candara"/>
              <a:ea typeface="Candara"/>
              <a:cs typeface="Candara"/>
              <a:sym typeface="Candar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933</TotalTime>
  <Words>2687</Words>
  <Application>Microsoft Office PowerPoint</Application>
  <PresentationFormat>Custom</PresentationFormat>
  <Paragraphs>248</Paragraphs>
  <Slides>31</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Candara</vt:lpstr>
      <vt:lpstr>Calibri</vt:lpstr>
      <vt:lpstr>KaTeX_Math</vt:lpstr>
      <vt:lpstr>KaTeX_Main</vt:lpstr>
      <vt:lpstr>Office Theme</vt:lpstr>
      <vt:lpstr>Slide 1</vt:lpstr>
      <vt:lpstr>Enhancing Privacy in Text Data: A Metric-Differential Privacy Approach. Motivation</vt:lpstr>
      <vt:lpstr>Slide 3</vt:lpstr>
      <vt:lpstr>Enhancing Privacy in Text Data: A Metric-Differential Privacy Approach.  Introduction</vt:lpstr>
      <vt:lpstr>Enhancing Privacy in Text Data: A Metric-Differential Privacy Approach.  Introduction</vt:lpstr>
      <vt:lpstr>Enhancing Privacy in Text Data: A Metric-Differential Privacy Approach.   Introduction.</vt:lpstr>
      <vt:lpstr>Enhancing Privacy in Text Data: A Metric-Differential Privacy Approach.  Terminology</vt:lpstr>
      <vt:lpstr>Enhancing Privacy in Text Data: A Metric-Differential Privacy Approach.   Do we really need it?</vt:lpstr>
      <vt:lpstr>Enhancing Privacy in Text Data: A Metric-Differential Privacy Approach.  Metric-Differential Privacy.</vt:lpstr>
      <vt:lpstr>Enhancing Privacy in Text Data: A Metric-Differential Privacy Approach.  Definition</vt:lpstr>
      <vt:lpstr>Enhancing Privacy in Text Data: A Metric-Differential Privacy Approach.  Mechanism.</vt:lpstr>
      <vt:lpstr>Enhancing Privacy in Text Data: A Metric-Differential Privacy Approach.  Algorithm.</vt:lpstr>
      <vt:lpstr>Enhancing Privacy in Text Data: A Metric-Differential Privacy Approach.  Algorithm.</vt:lpstr>
      <vt:lpstr>Enhancing Privacy in Text Data: A Metric-Differential Privacy Approach.   Plausible Deniability Statistics.</vt:lpstr>
      <vt:lpstr>Enhancing Privacy in Text Data: A Metric-Differential Privacy Approach.  Modification and its implications.</vt:lpstr>
      <vt:lpstr>Enhancing Privacy in Text Data: A Metric-Differential Privacy Approach.  Noise Addition</vt:lpstr>
      <vt:lpstr> Enhancing Privacy in Text Data: A Metric-Differential Privacy Approach.  Who’s using Differential Privacy?(S.O.T.A) </vt:lpstr>
      <vt:lpstr>Enhancing Privacy in Text Data: A Metric-Differential Privacy Approach. Experimental Setup.</vt:lpstr>
      <vt:lpstr>Enhancing Privacy in Text Data: A Metric-Differential Privacy Approach. Baseline Model</vt:lpstr>
      <vt:lpstr>Enhancing Privacy in Text Data: A Metric-Differential Privacy Approach.  Experiment 1</vt:lpstr>
      <vt:lpstr>A Differential Approach To Privacy  Experiment 1</vt:lpstr>
      <vt:lpstr>A Differential Approach To Privacy  Experiment 2</vt:lpstr>
      <vt:lpstr>A Differential Approach To Privacy  Experiment 2</vt:lpstr>
      <vt:lpstr>A Differential Approach To Privacy  Experiment 3</vt:lpstr>
      <vt:lpstr>A Differential Approach To Privacy  Experiment 3</vt:lpstr>
      <vt:lpstr>A Differential Approach To Privacy  Conclusion.</vt:lpstr>
      <vt:lpstr>Future Direction</vt:lpstr>
      <vt:lpstr>Timeline</vt:lpstr>
      <vt:lpstr>A Differential Approach To Privacy  References</vt:lpstr>
      <vt:lpstr>Slide 30</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Adeels Device</dc:creator>
  <cp:lastModifiedBy>Adeels Device</cp:lastModifiedBy>
  <cp:revision>7</cp:revision>
  <dcterms:modified xsi:type="dcterms:W3CDTF">2024-05-15T01:18:37Z</dcterms:modified>
</cp:coreProperties>
</file>